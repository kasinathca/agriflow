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b01a163f54379" /><Relationship Type="http://schemas.openxmlformats.org/officeDocument/2006/relationships/extended-properties" Target="/docProps/app.xml" Id="R2596f4fc49084a87" /><Relationship Type="http://schemas.openxmlformats.org/officeDocument/2006/relationships/officeDocument" Target="/ppt/presentation.xml" Id="R7366ee55b0ae46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7a1c3a97334141"/>
  </p:sldMasterIdLst>
  <p:notesMasterIdLst>
    <p:notesMasterId xmlns:r="http://schemas.openxmlformats.org/officeDocument/2006/relationships" r:id="R0734e89a10504310"/>
  </p:notesMasterIdLst>
  <p:sldIdLst>
    <p:sldId xmlns:r="http://schemas.openxmlformats.org/officeDocument/2006/relationships" id="256" r:id="Rc692f16b78cc4918"/>
    <p:sldId xmlns:r="http://schemas.openxmlformats.org/officeDocument/2006/relationships" id="257" r:id="R5703505217e24789"/>
    <p:sldId xmlns:r="http://schemas.openxmlformats.org/officeDocument/2006/relationships" id="258" r:id="Ra9444534a9c149a6"/>
    <p:sldId xmlns:r="http://schemas.openxmlformats.org/officeDocument/2006/relationships" id="259" r:id="Rab456f54ac314927"/>
    <p:sldId xmlns:r="http://schemas.openxmlformats.org/officeDocument/2006/relationships" id="260" r:id="Rf8d21ffa0b724177"/>
    <p:sldId xmlns:r="http://schemas.openxmlformats.org/officeDocument/2006/relationships" id="261" r:id="Rd607709c84624ba2"/>
    <p:sldId xmlns:r="http://schemas.openxmlformats.org/officeDocument/2006/relationships" id="262" r:id="R218fc6694c19450a"/>
    <p:sldId xmlns:r="http://schemas.openxmlformats.org/officeDocument/2006/relationships" id="263" r:id="R40497b837341401a"/>
    <p:sldId xmlns:r="http://schemas.openxmlformats.org/officeDocument/2006/relationships" id="264" r:id="Rcb3038f6d76f42ef"/>
    <p:sldId xmlns:r="http://schemas.openxmlformats.org/officeDocument/2006/relationships" id="265" r:id="R5574a20942874296"/>
    <p:sldId xmlns:r="http://schemas.openxmlformats.org/officeDocument/2006/relationships" id="266" r:id="R02aabb9bfd9d4853"/>
    <p:sldId xmlns:r="http://schemas.openxmlformats.org/officeDocument/2006/relationships" id="267" r:id="Rcf7f31fc21054c1a"/>
    <p:sldId xmlns:r="http://schemas.openxmlformats.org/officeDocument/2006/relationships" id="268" r:id="Rdbaf10eb36994a08"/>
    <p:sldId xmlns:r="http://schemas.openxmlformats.org/officeDocument/2006/relationships" id="269" r:id="R1ecda76c1fb64c20"/>
    <p:sldId xmlns:r="http://schemas.openxmlformats.org/officeDocument/2006/relationships" id="270" r:id="R98d3abf52a5b44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c8686811b4930" /><Relationship Type="http://schemas.openxmlformats.org/officeDocument/2006/relationships/slideMaster" Target="/ppt/slideMasters/slideMaster1.xml" Id="R157a1c3a97334141" /><Relationship Type="http://schemas.openxmlformats.org/officeDocument/2006/relationships/notesMaster" Target="/ppt/notesMasters/notesMaster1.xml" Id="R0734e89a10504310" /><Relationship Type="http://schemas.openxmlformats.org/officeDocument/2006/relationships/presProps" Target="/ppt/presProps.xml" Id="R5951ed9f6d41476c" /><Relationship Type="http://schemas.openxmlformats.org/officeDocument/2006/relationships/tableStyles" Target="/ppt/tableStyles.xml" Id="R71a6d71a36d345dc" /><Relationship Type="http://schemas.openxmlformats.org/officeDocument/2006/relationships/slide" Target="/ppt/slides/slide1.xml" Id="Rc692f16b78cc4918" /><Relationship Type="http://schemas.openxmlformats.org/officeDocument/2006/relationships/slide" Target="/ppt/slides/slide2.xml" Id="R5703505217e24789" /><Relationship Type="http://schemas.openxmlformats.org/officeDocument/2006/relationships/slide" Target="/ppt/slides/slide3.xml" Id="Ra9444534a9c149a6" /><Relationship Type="http://schemas.openxmlformats.org/officeDocument/2006/relationships/slide" Target="/ppt/slides/slide4.xml" Id="Rab456f54ac314927" /><Relationship Type="http://schemas.openxmlformats.org/officeDocument/2006/relationships/slide" Target="/ppt/slides/slide5.xml" Id="Rf8d21ffa0b724177" /><Relationship Type="http://schemas.openxmlformats.org/officeDocument/2006/relationships/slide" Target="/ppt/slides/slide6.xml" Id="Rd607709c84624ba2" /><Relationship Type="http://schemas.openxmlformats.org/officeDocument/2006/relationships/slide" Target="/ppt/slides/slide7.xml" Id="R218fc6694c19450a" /><Relationship Type="http://schemas.openxmlformats.org/officeDocument/2006/relationships/slide" Target="/ppt/slides/slide8.xml" Id="R40497b837341401a" /><Relationship Type="http://schemas.openxmlformats.org/officeDocument/2006/relationships/slide" Target="/ppt/slides/slide9.xml" Id="Rcb3038f6d76f42ef" /><Relationship Type="http://schemas.openxmlformats.org/officeDocument/2006/relationships/slide" Target="/ppt/slides/slide10.xml" Id="R5574a20942874296" /><Relationship Type="http://schemas.openxmlformats.org/officeDocument/2006/relationships/slide" Target="/ppt/slides/slide11.xml" Id="R02aabb9bfd9d4853" /><Relationship Type="http://schemas.openxmlformats.org/officeDocument/2006/relationships/slide" Target="/ppt/slides/slide12.xml" Id="Rcf7f31fc21054c1a" /><Relationship Type="http://schemas.openxmlformats.org/officeDocument/2006/relationships/slide" Target="/ppt/slides/slide13.xml" Id="Rdbaf10eb36994a08" /><Relationship Type="http://schemas.openxmlformats.org/officeDocument/2006/relationships/slide" Target="/ppt/slides/slide14.xml" Id="R1ecda76c1fb64c20" /><Relationship Type="http://schemas.openxmlformats.org/officeDocument/2006/relationships/slide" Target="/ppt/slides/slide15.xml" Id="R98d3abf52a5b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f0a7c4a150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81f9ff62945f4" /><Relationship Type="http://schemas.openxmlformats.org/officeDocument/2006/relationships/notesMaster" Target="/ppt/notesMasters/notesMaster1.xml" Id="R0d1580784f4f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3a3cd48d164660" /><Relationship Type="http://schemas.openxmlformats.org/officeDocument/2006/relationships/notesMaster" Target="/ppt/notesMasters/notesMaster1.xml" Id="R46ef0f3f47c641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bf189473f40ed" /><Relationship Type="http://schemas.openxmlformats.org/officeDocument/2006/relationships/notesMaster" Target="/ppt/notesMasters/notesMaster1.xml" Id="Rfbc26028b73d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f3e2288274f79" /><Relationship Type="http://schemas.openxmlformats.org/officeDocument/2006/relationships/notesMaster" Target="/ppt/notesMasters/notesMaster1.xml" Id="Rd70eef85e52945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9edba75c9e4fc2" /><Relationship Type="http://schemas.openxmlformats.org/officeDocument/2006/relationships/notesMaster" Target="/ppt/notesMasters/notesMaster1.xml" Id="R05d0ce112ae34b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dece497c749df" /><Relationship Type="http://schemas.openxmlformats.org/officeDocument/2006/relationships/notesMaster" Target="/ppt/notesMasters/notesMaster1.xml" Id="Rc3f28be2cee1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c21a1f1b6545a1" /><Relationship Type="http://schemas.openxmlformats.org/officeDocument/2006/relationships/notesMaster" Target="/ppt/notesMasters/notesMaster1.xml" Id="Rd25d58fb62e545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805efcd084874" /><Relationship Type="http://schemas.openxmlformats.org/officeDocument/2006/relationships/notesMaster" Target="/ppt/notesMasters/notesMaster1.xml" Id="R599da71ba4a5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b5667b64574351" /><Relationship Type="http://schemas.openxmlformats.org/officeDocument/2006/relationships/notesMaster" Target="/ppt/notesMasters/notesMaster1.xml" Id="Rdc3d70c63d534b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dcff99d1647e3" /><Relationship Type="http://schemas.openxmlformats.org/officeDocument/2006/relationships/notesMaster" Target="/ppt/notesMasters/notesMaster1.xml" Id="Rc723a265fe5941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5864d2046f4c4b" /><Relationship Type="http://schemas.openxmlformats.org/officeDocument/2006/relationships/notesMaster" Target="/ppt/notesMasters/notesMaster1.xml" Id="R24b13475eb354a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0a0737ece84b07" /><Relationship Type="http://schemas.openxmlformats.org/officeDocument/2006/relationships/notesMaster" Target="/ppt/notesMasters/notesMaster1.xml" Id="R70f4b4c3ea3e46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91c5c2a1904b3b" /><Relationship Type="http://schemas.openxmlformats.org/officeDocument/2006/relationships/notesMaster" Target="/ppt/notesMasters/notesMaster1.xml" Id="R7c609d5124c843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a12478fdd54f99" /><Relationship Type="http://schemas.openxmlformats.org/officeDocument/2006/relationships/notesMaster" Target="/ppt/notesMasters/notesMaster1.xml" Id="Rf41159d4c57c46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e72e45ab194e03" /><Relationship Type="http://schemas.openxmlformats.org/officeDocument/2006/relationships/notesMaster" Target="/ppt/notesMasters/notesMaster1.xml" Id="R9eb8de509f04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cf105856c45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d3c06732240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9b85b1ec94d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f052b126045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754fe47c64d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95e971316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A28F77-A523-442F-A865-F5F1A5FC4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DA89CA-9B2D-424B-8DC9-AB024F3F6D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B9D140-45D9-4A59-B9BB-41A3E1673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F4D91C-6FDE-4813-A89B-F0D5C8AF4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BA4CBC-94CE-4595-A180-79A058618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D2D489-B0B3-49B3-A61E-89E1103378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BD3088-FE8B-4A7A-9B3F-4B9991B6A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AEF270-40EB-4661-A4E0-70A57651E0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443FA2-E74C-4627-BB2E-24060DC93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3EF6BD-9A8A-4FCD-81D0-DBF89CD7FE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6cb11be374d59" /><Relationship Type="http://schemas.openxmlformats.org/officeDocument/2006/relationships/slideLayout" Target="/ppt/slideLayouts/slideLayout1.xml" Id="Rddfd78f8af274396" /><Relationship Type="http://schemas.openxmlformats.org/officeDocument/2006/relationships/slideLayout" Target="/ppt/slideLayouts/slideLayout2.xml" Id="R099f8181027c4a76" /><Relationship Type="http://schemas.openxmlformats.org/officeDocument/2006/relationships/slideLayout" Target="/ppt/slideLayouts/slideLayout3.xml" Id="R164f7040307441d2" /><Relationship Type="http://schemas.openxmlformats.org/officeDocument/2006/relationships/slideLayout" Target="/ppt/slideLayouts/slideLayout4.xml" Id="Ra921b73bb24b4a21" /><Relationship Type="http://schemas.openxmlformats.org/officeDocument/2006/relationships/slideLayout" Target="/ppt/slideLayouts/slideLayout5.xml" Id="R84524323d8814ac5" /><Relationship Type="http://schemas.openxmlformats.org/officeDocument/2006/relationships/slideLayout" Target="/ppt/slideLayouts/slideLayout6.xml" Id="Ra1e681ca6c8b47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d78f8af274396"/>
    <p:sldLayoutId xmlns:r="http://schemas.openxmlformats.org/officeDocument/2006/relationships" id="2147483650" r:id="R099f8181027c4a76"/>
    <p:sldLayoutId xmlns:r="http://schemas.openxmlformats.org/officeDocument/2006/relationships" id="2147483651" r:id="R164f7040307441d2"/>
    <p:sldLayoutId xmlns:r="http://schemas.openxmlformats.org/officeDocument/2006/relationships" id="2147483652" r:id="Ra921b73bb24b4a21"/>
    <p:sldLayoutId xmlns:r="http://schemas.openxmlformats.org/officeDocument/2006/relationships" id="2147483653" r:id="R84524323d8814ac5"/>
    <p:sldLayoutId xmlns:r="http://schemas.openxmlformats.org/officeDocument/2006/relationships" id="2147483654" r:id="Ra1e681ca6c8b47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193437c0b4af0" /><Relationship Type="http://schemas.openxmlformats.org/officeDocument/2006/relationships/notesSlide" Target="/ppt/notesSlides/notesSlide1.xml" Id="R85298e0cf92a4c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2d47f48cd45a2" /><Relationship Type="http://schemas.openxmlformats.org/officeDocument/2006/relationships/notesSlide" Target="/ppt/notesSlides/notesSlide2.xml" Id="Rf79d8158b693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73dc7d1ba42fc" /><Relationship Type="http://schemas.openxmlformats.org/officeDocument/2006/relationships/notesSlide" Target="/ppt/notesSlides/notesSlide3.xml" Id="R856e6c6ac17342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6998557f84031" /><Relationship Type="http://schemas.openxmlformats.org/officeDocument/2006/relationships/notesSlide" Target="/ppt/notesSlides/notesSlide4.xml" Id="R77771ac0b35f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06cfe7711477a" /><Relationship Type="http://schemas.openxmlformats.org/officeDocument/2006/relationships/chart" Target="/ppt/slides/charts/chart1.xml" Id="R55124e82e63d481d" /><Relationship Type="http://schemas.openxmlformats.org/officeDocument/2006/relationships/notesSlide" Target="/ppt/notesSlides/notesSlide5.xml" Id="R18b22021d7ba49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af8ad62de4cd2" /><Relationship Type="http://schemas.openxmlformats.org/officeDocument/2006/relationships/chart" Target="/ppt/slides/charts/chart2.xml" Id="Rfb185cd4fd9c4f65" /><Relationship Type="http://schemas.openxmlformats.org/officeDocument/2006/relationships/notesSlide" Target="/ppt/notesSlides/notesSlide6.xml" Id="R29475d573fb641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07c55ca424b89" /><Relationship Type="http://schemas.openxmlformats.org/officeDocument/2006/relationships/notesSlide" Target="/ppt/notesSlides/notesSlide7.xml" Id="Rd8001af1b76348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756c96efe4619" /><Relationship Type="http://schemas.openxmlformats.org/officeDocument/2006/relationships/notesSlide" Target="/ppt/notesSlides/notesSlide8.xml" Id="R3605194d3937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35078a8f64660" /><Relationship Type="http://schemas.openxmlformats.org/officeDocument/2006/relationships/notesSlide" Target="/ppt/notesSlides/notesSlide9.xml" Id="R0fa26abf5b0345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58105a2c54190" /><Relationship Type="http://schemas.openxmlformats.org/officeDocument/2006/relationships/chart" Target="/ppt/slides/charts/chart3.xml" Id="R95b663f61c0d4fee" /><Relationship Type="http://schemas.openxmlformats.org/officeDocument/2006/relationships/chart" Target="/ppt/slides/charts/chart4.xml" Id="R05c8c7162b954a41" /><Relationship Type="http://schemas.openxmlformats.org/officeDocument/2006/relationships/notesSlide" Target="/ppt/notesSlides/notesSlide10.xml" Id="R69a1c2d9a0914a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bc6a97c924150" /><Relationship Type="http://schemas.openxmlformats.org/officeDocument/2006/relationships/chart" Target="/ppt/slides/charts/chart5.xml" Id="Rc8517fb68a4c418f" /><Relationship Type="http://schemas.openxmlformats.org/officeDocument/2006/relationships/chart" Target="/ppt/slides/charts/chart6.xml" Id="R938facd8f6624971" /><Relationship Type="http://schemas.openxmlformats.org/officeDocument/2006/relationships/notesSlide" Target="/ppt/notesSlides/notesSlide11.xml" Id="R2a679bf20aeb48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d1aa0b37f4e44" /><Relationship Type="http://schemas.openxmlformats.org/officeDocument/2006/relationships/image" Target="/ppt/media/image.png" Id="R6e9c3e71b4f543b4" /><Relationship Type="http://schemas.openxmlformats.org/officeDocument/2006/relationships/notesSlide" Target="/ppt/notesSlides/notesSlide12.xml" Id="Re7df196328d240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0ee9792514e9a" /><Relationship Type="http://schemas.openxmlformats.org/officeDocument/2006/relationships/notesSlide" Target="/ppt/notesSlides/notesSlide13.xml" Id="R2529c101c0894e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cbe88c94c4eeb" /><Relationship Type="http://schemas.openxmlformats.org/officeDocument/2006/relationships/notesSlide" Target="/ppt/notesSlides/notesSlide14.xml" Id="R812b1e6accbe45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5e020d1be4c27" /><Relationship Type="http://schemas.openxmlformats.org/officeDocument/2006/relationships/notesSlide" Target="/ppt/notesSlides/notesSlide15.xml" Id="R85ce1d07dcbf4a8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Market-day observations</c:v>
          </c:tx>
          <c:spPr>
            <a:solidFill xmlns:a="http://schemas.openxmlformats.org/drawingml/2006/main">
              <a:srgbClr val="2F6B4F"/>
            </a:solidFill>
          </c:spPr>
          <c:invertIfNegative val="0"/>
          <c:cat>
            <c:strLit>
              <c:ptCount val="10"/>
              <c:pt idx="0">
                <c:v>Amrawati(Frui &amp; Veg. Market)</c:v>
              </c:pt>
              <c:pt idx="1">
                <c:v>Sangamner</c:v>
              </c:pt>
              <c:pt idx="2">
                <c:v>Akola</c:v>
              </c:pt>
              <c:pt idx="3">
                <c:v>Kopargaon</c:v>
              </c:pt>
              <c:pt idx="4">
                <c:v>Rahuri(Vambori)</c:v>
              </c:pt>
              <c:pt idx="5">
                <c:v>Parner</c:v>
              </c:pt>
              <c:pt idx="6">
                <c:v>Rahata</c:v>
              </c:pt>
              <c:pt idx="7">
                <c:v>Newasa(Ghodegaon)</c:v>
              </c:pt>
              <c:pt idx="8">
                <c:v>Karjat</c:v>
              </c:pt>
              <c:pt idx="9">
                <c:v>Rahuri</c:v>
              </c:pt>
            </c:strLit>
          </c:cat>
          <c:val>
            <c:numLit>
              <c:formatCode>General</c:formatCode>
              <c:ptCount val="10"/>
              <c:pt idx="0">
                <c:v>747</c:v>
              </c:pt>
              <c:pt idx="1">
                <c:v>628</c:v>
              </c:pt>
              <c:pt idx="2">
                <c:v>620</c:v>
              </c:pt>
              <c:pt idx="3">
                <c:v>614</c:v>
              </c:pt>
              <c:pt idx="4">
                <c:v>376</c:v>
              </c:pt>
              <c:pt idx="5">
                <c:v>367</c:v>
              </c:pt>
              <c:pt idx="6">
                <c:v>357</c:v>
              </c:pt>
              <c:pt idx="7">
                <c:v>352</c:v>
              </c:pt>
              <c:pt idx="8">
                <c:v>323</c:v>
              </c:pt>
              <c:pt idx="9">
                <c:v>318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Processed observations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Monthly median modal price</c:v>
          </c:tx>
          <c:spPr>
            <a:ln xmlns:a="http://schemas.openxmlformats.org/drawingml/2006/main" w="28575">
              <a:solidFill>
                <a:srgbClr val="2F6B4F"/>
              </a:solidFill>
              <a:prstDash val="solid"/>
            </a:ln>
          </c:spPr>
          <c:marker>
            <c:symbol val="none"/>
          </c:marker>
          <c:cat>
            <c:strLit>
              <c:ptCount val="33"/>
              <c:pt idx="0">
                <c:v>2023-01</c:v>
              </c:pt>
              <c:pt idx="1">
                <c:v>2023-02</c:v>
              </c:pt>
              <c:pt idx="2">
                <c:v>2023-03</c:v>
              </c:pt>
              <c:pt idx="3">
                <c:v>2023-04</c:v>
              </c:pt>
              <c:pt idx="4">
                <c:v>2023-05</c:v>
              </c:pt>
              <c:pt idx="5">
                <c:v>2023-06</c:v>
              </c:pt>
              <c:pt idx="6">
                <c:v>2023-07</c:v>
              </c:pt>
              <c:pt idx="7">
                <c:v>2023-08</c:v>
              </c:pt>
              <c:pt idx="8">
                <c:v>2023-09</c:v>
              </c:pt>
              <c:pt idx="9">
                <c:v>2023-10</c:v>
              </c:pt>
              <c:pt idx="10">
                <c:v>2023-11</c:v>
              </c:pt>
              <c:pt idx="11">
                <c:v>2024-01</c:v>
              </c:pt>
              <c:pt idx="12">
                <c:v>2024-02</c:v>
              </c:pt>
              <c:pt idx="13">
                <c:v>2024-03</c:v>
              </c:pt>
              <c:pt idx="14">
                <c:v>2024-04</c:v>
              </c:pt>
              <c:pt idx="15">
                <c:v>2024-05</c:v>
              </c:pt>
              <c:pt idx="16">
                <c:v>2024-06</c:v>
              </c:pt>
              <c:pt idx="17">
                <c:v>2024-07</c:v>
              </c:pt>
              <c:pt idx="18">
                <c:v>2024-08</c:v>
              </c:pt>
              <c:pt idx="19">
                <c:v>2024-09</c:v>
              </c:pt>
              <c:pt idx="20">
                <c:v>2024-10</c:v>
              </c:pt>
              <c:pt idx="21">
                <c:v>2024-11</c:v>
              </c:pt>
              <c:pt idx="22">
                <c:v>2024-12</c:v>
              </c:pt>
              <c:pt idx="23">
                <c:v>2025-01</c:v>
              </c:pt>
              <c:pt idx="24">
                <c:v>2025-02</c:v>
              </c:pt>
              <c:pt idx="25">
                <c:v>2025-03</c:v>
              </c:pt>
              <c:pt idx="26">
                <c:v>2025-04</c:v>
              </c:pt>
              <c:pt idx="27">
                <c:v>2025-05</c:v>
              </c:pt>
              <c:pt idx="28">
                <c:v>2025-06</c:v>
              </c:pt>
              <c:pt idx="29">
                <c:v>2025-07</c:v>
              </c:pt>
              <c:pt idx="30">
                <c:v>2025-08</c:v>
              </c:pt>
              <c:pt idx="31">
                <c:v>2025-09</c:v>
              </c:pt>
              <c:pt idx="32">
                <c:v>2025-10</c:v>
              </c:pt>
            </c:strLit>
          </c:cat>
          <c:val>
            <c:numLit>
              <c:formatCode>General</c:formatCode>
              <c:ptCount val="33"/>
              <c:pt idx="0">
                <c:v>1175</c:v>
              </c:pt>
              <c:pt idx="1">
                <c:v>787.5</c:v>
              </c:pt>
              <c:pt idx="2">
                <c:v>700</c:v>
              </c:pt>
              <c:pt idx="3">
                <c:v>600</c:v>
              </c:pt>
              <c:pt idx="4">
                <c:v>600</c:v>
              </c:pt>
              <c:pt idx="5">
                <c:v>800</c:v>
              </c:pt>
              <c:pt idx="6">
                <c:v>1200</c:v>
              </c:pt>
              <c:pt idx="7">
                <c:v>1600</c:v>
              </c:pt>
              <c:pt idx="8">
                <c:v>1800</c:v>
              </c:pt>
              <c:pt idx="9">
                <c:v>2500</c:v>
              </c:pt>
              <c:pt idx="10">
                <c:v>3250</c:v>
              </c:pt>
              <c:pt idx="11">
                <c:v>1300</c:v>
              </c:pt>
              <c:pt idx="12">
                <c:v>1175</c:v>
              </c:pt>
              <c:pt idx="13">
                <c:v>1200</c:v>
              </c:pt>
              <c:pt idx="14">
                <c:v>1150</c:v>
              </c:pt>
              <c:pt idx="15">
                <c:v>1200</c:v>
              </c:pt>
              <c:pt idx="16">
                <c:v>2100</c:v>
              </c:pt>
              <c:pt idx="17">
                <c:v>2500</c:v>
              </c:pt>
              <c:pt idx="18">
                <c:v>3000</c:v>
              </c:pt>
              <c:pt idx="19">
                <c:v>3650</c:v>
              </c:pt>
              <c:pt idx="20">
                <c:v>3200</c:v>
              </c:pt>
              <c:pt idx="21">
                <c:v>3350</c:v>
              </c:pt>
              <c:pt idx="22">
                <c:v>3000</c:v>
              </c:pt>
              <c:pt idx="23">
                <c:v>2000</c:v>
              </c:pt>
              <c:pt idx="24">
                <c:v>2000</c:v>
              </c:pt>
              <c:pt idx="25">
                <c:v>1300</c:v>
              </c:pt>
              <c:pt idx="26">
                <c:v>987.5</c:v>
              </c:pt>
              <c:pt idx="27">
                <c:v>925</c:v>
              </c:pt>
              <c:pt idx="28">
                <c:v>1218.5</c:v>
              </c:pt>
              <c:pt idx="29">
                <c:v>1200</c:v>
              </c:pt>
              <c:pt idx="30">
                <c:v>1200</c:v>
              </c:pt>
              <c:pt idx="31">
                <c:v>1000</c:v>
              </c:pt>
              <c:pt idx="32">
                <c:v>1002.5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Month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lblOffset val="75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INR per quintal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MAE</c:v>
          </c:tx>
          <c:spPr>
            <a:solidFill xmlns:a="http://schemas.openxmlformats.org/drawingml/2006/main">
              <a:srgbClr val="2F6B4F"/>
            </a:solidFill>
          </c:spPr>
          <c:invertIfNegative val="0"/>
          <c:cat>
            <c:strLit>
              <c:ptCount val="6"/>
              <c:pt idx="0">
                <c:v>M0 Persistence</c:v>
              </c:pt>
              <c:pt idx="1">
                <c:v>M4 Random Forest</c:v>
              </c:pt>
              <c:pt idx="2">
                <c:v>M5 Hist GB</c:v>
              </c:pt>
              <c:pt idx="3">
                <c:v>M3 Decision Tree</c:v>
              </c:pt>
              <c:pt idx="4">
                <c:v>M2 Ridge</c:v>
              </c:pt>
              <c:pt idx="5">
                <c:v>M1 Lag-7</c:v>
              </c:pt>
            </c:strLit>
          </c:cat>
          <c:val>
            <c:numLit>
              <c:formatCode>General</c:formatCode>
              <c:ptCount val="6"/>
              <c:pt idx="0">
                <c:v>101.39794967381174</c:v>
              </c:pt>
              <c:pt idx="1">
                <c:v>108.1444222949907</c:v>
              </c:pt>
              <c:pt idx="2">
                <c:v>108.73422409530747</c:v>
              </c:pt>
              <c:pt idx="3">
                <c:v>111.80112996820695</c:v>
              </c:pt>
              <c:pt idx="4">
                <c:v>112.47933345007249</c:v>
              </c:pt>
              <c:pt idx="5">
                <c:v>172.80055917986954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MAE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6"/>
              <c:pt idx="0">
                <c:v>M0 Persistence</c:v>
              </c:pt>
              <c:pt idx="1">
                <c:v>M4 Random Forest</c:v>
              </c:pt>
              <c:pt idx="2">
                <c:v>M5 Hist GB</c:v>
              </c:pt>
              <c:pt idx="3">
                <c:v>M3 Decision Tree</c:v>
              </c:pt>
              <c:pt idx="4">
                <c:v>M2 Ridge</c:v>
              </c:pt>
              <c:pt idx="5">
                <c:v>M1 Lag-7</c:v>
              </c:pt>
            </c:strLit>
          </c:cat>
          <c:val>
            <c:numLit>
              <c:formatCode>General</c:formatCode>
              <c:ptCount val="6"/>
              <c:pt idx="0">
                <c:v>180.9732413167576</c:v>
              </c:pt>
              <c:pt idx="1">
                <c:v>174.14094933403862</c:v>
              </c:pt>
              <c:pt idx="2">
                <c:v>171.2992340218687</c:v>
              </c:pt>
              <c:pt idx="3">
                <c:v>182.32319425874104</c:v>
              </c:pt>
              <c:pt idx="4">
                <c:v>165.8434318246821</c:v>
              </c:pt>
              <c:pt idx="5">
                <c:v>242.20293148234052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RMSE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Actual</c:v>
          </c:tx>
          <c:spPr>
            <a:ln xmlns:a="http://schemas.openxmlformats.org/drawingml/2006/main" w="19050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strLit>
              <c:ptCount val="108"/>
              <c:pt idx="0">
                <c:v>06-08</c:v>
              </c:pt>
              <c:pt idx="1">
                <c:v>06-09</c:v>
              </c:pt>
              <c:pt idx="2">
                <c:v>06-10</c:v>
              </c:pt>
              <c:pt idx="3">
                <c:v>06-11</c:v>
              </c:pt>
              <c:pt idx="4">
                <c:v>06-13</c:v>
              </c:pt>
              <c:pt idx="5">
                <c:v>06-14</c:v>
              </c:pt>
              <c:pt idx="6">
                <c:v>06-15</c:v>
              </c:pt>
              <c:pt idx="7">
                <c:v>06-16</c:v>
              </c:pt>
              <c:pt idx="8">
                <c:v>06-17</c:v>
              </c:pt>
              <c:pt idx="9">
                <c:v>06-18</c:v>
              </c:pt>
              <c:pt idx="10">
                <c:v>06-20</c:v>
              </c:pt>
              <c:pt idx="11">
                <c:v>06-21</c:v>
              </c:pt>
              <c:pt idx="12">
                <c:v>06-22</c:v>
              </c:pt>
              <c:pt idx="13">
                <c:v>06-23</c:v>
              </c:pt>
              <c:pt idx="14">
                <c:v>06-24</c:v>
              </c:pt>
              <c:pt idx="15">
                <c:v>06-25</c:v>
              </c:pt>
              <c:pt idx="16">
                <c:v>06-27</c:v>
              </c:pt>
              <c:pt idx="17">
                <c:v>06-28</c:v>
              </c:pt>
              <c:pt idx="18">
                <c:v>06-29</c:v>
              </c:pt>
              <c:pt idx="19">
                <c:v>06-30</c:v>
              </c:pt>
              <c:pt idx="20">
                <c:v>07-01</c:v>
              </c:pt>
              <c:pt idx="21">
                <c:v>07-04</c:v>
              </c:pt>
              <c:pt idx="22">
                <c:v>07-05</c:v>
              </c:pt>
              <c:pt idx="23">
                <c:v>07-06</c:v>
              </c:pt>
              <c:pt idx="24">
                <c:v>07-07</c:v>
              </c:pt>
              <c:pt idx="25">
                <c:v>07-08</c:v>
              </c:pt>
              <c:pt idx="26">
                <c:v>07-09</c:v>
              </c:pt>
              <c:pt idx="27">
                <c:v>07-11</c:v>
              </c:pt>
              <c:pt idx="28">
                <c:v>07-12</c:v>
              </c:pt>
              <c:pt idx="29">
                <c:v>07-13</c:v>
              </c:pt>
              <c:pt idx="30">
                <c:v>07-14</c:v>
              </c:pt>
              <c:pt idx="31">
                <c:v>07-15</c:v>
              </c:pt>
              <c:pt idx="32">
                <c:v>07-16</c:v>
              </c:pt>
              <c:pt idx="33">
                <c:v>07-18</c:v>
              </c:pt>
              <c:pt idx="34">
                <c:v>07-19</c:v>
              </c:pt>
              <c:pt idx="35">
                <c:v>07-21</c:v>
              </c:pt>
              <c:pt idx="36">
                <c:v>07-22</c:v>
              </c:pt>
              <c:pt idx="37">
                <c:v>07-23</c:v>
              </c:pt>
              <c:pt idx="38">
                <c:v>07-27</c:v>
              </c:pt>
              <c:pt idx="39">
                <c:v>07-28</c:v>
              </c:pt>
              <c:pt idx="40">
                <c:v>07-29</c:v>
              </c:pt>
              <c:pt idx="41">
                <c:v>07-30</c:v>
              </c:pt>
              <c:pt idx="42">
                <c:v>08-01</c:v>
              </c:pt>
              <c:pt idx="43">
                <c:v>08-02</c:v>
              </c:pt>
              <c:pt idx="44">
                <c:v>08-03</c:v>
              </c:pt>
              <c:pt idx="45">
                <c:v>08-04</c:v>
              </c:pt>
              <c:pt idx="46">
                <c:v>08-05</c:v>
              </c:pt>
              <c:pt idx="47">
                <c:v>08-06</c:v>
              </c:pt>
              <c:pt idx="48">
                <c:v>08-08</c:v>
              </c:pt>
              <c:pt idx="49">
                <c:v>08-10</c:v>
              </c:pt>
              <c:pt idx="50">
                <c:v>08-11</c:v>
              </c:pt>
              <c:pt idx="51">
                <c:v>08-12</c:v>
              </c:pt>
              <c:pt idx="52">
                <c:v>08-13</c:v>
              </c:pt>
              <c:pt idx="53">
                <c:v>08-16</c:v>
              </c:pt>
              <c:pt idx="54">
                <c:v>08-17</c:v>
              </c:pt>
              <c:pt idx="55">
                <c:v>08-18</c:v>
              </c:pt>
              <c:pt idx="56">
                <c:v>08-19</c:v>
              </c:pt>
              <c:pt idx="57">
                <c:v>08-20</c:v>
              </c:pt>
              <c:pt idx="58">
                <c:v>08-22</c:v>
              </c:pt>
              <c:pt idx="59">
                <c:v>08-23</c:v>
              </c:pt>
              <c:pt idx="60">
                <c:v>08-24</c:v>
              </c:pt>
              <c:pt idx="61">
                <c:v>08-25</c:v>
              </c:pt>
              <c:pt idx="62">
                <c:v>08-26</c:v>
              </c:pt>
              <c:pt idx="63">
                <c:v>08-27</c:v>
              </c:pt>
              <c:pt idx="64">
                <c:v>08-29</c:v>
              </c:pt>
              <c:pt idx="65">
                <c:v>08-30</c:v>
              </c:pt>
              <c:pt idx="66">
                <c:v>09-01</c:v>
              </c:pt>
              <c:pt idx="67">
                <c:v>09-02</c:v>
              </c:pt>
              <c:pt idx="68">
                <c:v>09-03</c:v>
              </c:pt>
              <c:pt idx="69">
                <c:v>09-05</c:v>
              </c:pt>
              <c:pt idx="70">
                <c:v>09-06</c:v>
              </c:pt>
              <c:pt idx="71">
                <c:v>09-07</c:v>
              </c:pt>
              <c:pt idx="72">
                <c:v>09-08</c:v>
              </c:pt>
              <c:pt idx="73">
                <c:v>09-09</c:v>
              </c:pt>
              <c:pt idx="74">
                <c:v>09-10</c:v>
              </c:pt>
              <c:pt idx="75">
                <c:v>09-12</c:v>
              </c:pt>
              <c:pt idx="76">
                <c:v>09-13</c:v>
              </c:pt>
              <c:pt idx="77">
                <c:v>09-14</c:v>
              </c:pt>
              <c:pt idx="78">
                <c:v>09-15</c:v>
              </c:pt>
              <c:pt idx="79">
                <c:v>09-16</c:v>
              </c:pt>
              <c:pt idx="80">
                <c:v>09-17</c:v>
              </c:pt>
              <c:pt idx="81">
                <c:v>09-19</c:v>
              </c:pt>
              <c:pt idx="82">
                <c:v>09-20</c:v>
              </c:pt>
              <c:pt idx="83">
                <c:v>09-21</c:v>
              </c:pt>
              <c:pt idx="84">
                <c:v>09-22</c:v>
              </c:pt>
              <c:pt idx="85">
                <c:v>09-23</c:v>
              </c:pt>
              <c:pt idx="86">
                <c:v>09-24</c:v>
              </c:pt>
              <c:pt idx="87">
                <c:v>09-26</c:v>
              </c:pt>
              <c:pt idx="88">
                <c:v>09-27</c:v>
              </c:pt>
              <c:pt idx="89">
                <c:v>09-28</c:v>
              </c:pt>
              <c:pt idx="90">
                <c:v>09-29</c:v>
              </c:pt>
              <c:pt idx="91">
                <c:v>09-30</c:v>
              </c:pt>
              <c:pt idx="92">
                <c:v>10-01</c:v>
              </c:pt>
              <c:pt idx="93">
                <c:v>10-03</c:v>
              </c:pt>
              <c:pt idx="94">
                <c:v>10-04</c:v>
              </c:pt>
              <c:pt idx="95">
                <c:v>10-06</c:v>
              </c:pt>
              <c:pt idx="96">
                <c:v>10-07</c:v>
              </c:pt>
              <c:pt idx="97">
                <c:v>10-08</c:v>
              </c:pt>
              <c:pt idx="98">
                <c:v>10-12</c:v>
              </c:pt>
              <c:pt idx="99">
                <c:v>10-13</c:v>
              </c:pt>
              <c:pt idx="100">
                <c:v>10-14</c:v>
              </c:pt>
              <c:pt idx="101">
                <c:v>10-15</c:v>
              </c:pt>
              <c:pt idx="102">
                <c:v>10-17</c:v>
              </c:pt>
              <c:pt idx="103">
                <c:v>10-18</c:v>
              </c:pt>
              <c:pt idx="104">
                <c:v>10-26</c:v>
              </c:pt>
              <c:pt idx="105">
                <c:v>10-27</c:v>
              </c:pt>
              <c:pt idx="106">
                <c:v>10-28</c:v>
              </c:pt>
              <c:pt idx="107">
                <c:v>10-29</c:v>
              </c:pt>
            </c:strLit>
          </c:cat>
          <c:val>
            <c:numLit>
              <c:formatCode>General</c:formatCode>
              <c:ptCount val="108"/>
              <c:pt idx="0">
                <c:v>1250</c:v>
              </c:pt>
              <c:pt idx="1">
                <c:v>1350</c:v>
              </c:pt>
              <c:pt idx="2">
                <c:v>1250</c:v>
              </c:pt>
              <c:pt idx="3">
                <c:v>1400</c:v>
              </c:pt>
              <c:pt idx="4">
                <c:v>1400</c:v>
              </c:pt>
              <c:pt idx="5">
                <c:v>1400</c:v>
              </c:pt>
              <c:pt idx="6">
                <c:v>1500</c:v>
              </c:pt>
              <c:pt idx="7">
                <c:v>1400</c:v>
              </c:pt>
              <c:pt idx="8">
                <c:v>1350</c:v>
              </c:pt>
              <c:pt idx="9">
                <c:v>1500</c:v>
              </c:pt>
              <c:pt idx="10">
                <c:v>1500</c:v>
              </c:pt>
              <c:pt idx="11">
                <c:v>1400</c:v>
              </c:pt>
              <c:pt idx="12">
                <c:v>1400</c:v>
              </c:pt>
              <c:pt idx="13">
                <c:v>1300</c:v>
              </c:pt>
              <c:pt idx="14">
                <c:v>1450</c:v>
              </c:pt>
              <c:pt idx="15">
                <c:v>1350</c:v>
              </c:pt>
              <c:pt idx="16">
                <c:v>1450</c:v>
              </c:pt>
              <c:pt idx="17">
                <c:v>1700</c:v>
              </c:pt>
              <c:pt idx="18">
                <c:v>1600</c:v>
              </c:pt>
              <c:pt idx="19">
                <c:v>1700</c:v>
              </c:pt>
              <c:pt idx="20">
                <c:v>1750</c:v>
              </c:pt>
              <c:pt idx="21">
                <c:v>1400</c:v>
              </c:pt>
              <c:pt idx="22">
                <c:v>1500</c:v>
              </c:pt>
              <c:pt idx="23">
                <c:v>1550</c:v>
              </c:pt>
              <c:pt idx="24">
                <c:v>1400</c:v>
              </c:pt>
              <c:pt idx="25">
                <c:v>1450</c:v>
              </c:pt>
              <c:pt idx="26">
                <c:v>1450</c:v>
              </c:pt>
              <c:pt idx="27">
                <c:v>1350</c:v>
              </c:pt>
              <c:pt idx="28">
                <c:v>1450</c:v>
              </c:pt>
              <c:pt idx="29">
                <c:v>1400</c:v>
              </c:pt>
              <c:pt idx="30">
                <c:v>1450</c:v>
              </c:pt>
              <c:pt idx="31">
                <c:v>1350</c:v>
              </c:pt>
              <c:pt idx="32">
                <c:v>1400</c:v>
              </c:pt>
              <c:pt idx="33">
                <c:v>1400</c:v>
              </c:pt>
              <c:pt idx="34">
                <c:v>1500</c:v>
              </c:pt>
              <c:pt idx="35">
                <c:v>1500</c:v>
              </c:pt>
              <c:pt idx="36">
                <c:v>1550</c:v>
              </c:pt>
              <c:pt idx="37">
                <c:v>1500</c:v>
              </c:pt>
              <c:pt idx="38">
                <c:v>1400</c:v>
              </c:pt>
              <c:pt idx="39">
                <c:v>1350</c:v>
              </c:pt>
              <c:pt idx="40">
                <c:v>1300</c:v>
              </c:pt>
              <c:pt idx="41">
                <c:v>1350</c:v>
              </c:pt>
              <c:pt idx="42">
                <c:v>1450</c:v>
              </c:pt>
              <c:pt idx="43">
                <c:v>1400</c:v>
              </c:pt>
              <c:pt idx="44">
                <c:v>1450</c:v>
              </c:pt>
              <c:pt idx="45">
                <c:v>1500</c:v>
              </c:pt>
              <c:pt idx="46">
                <c:v>1450</c:v>
              </c:pt>
              <c:pt idx="47">
                <c:v>1500</c:v>
              </c:pt>
              <c:pt idx="48">
                <c:v>1450</c:v>
              </c:pt>
              <c:pt idx="49">
                <c:v>1550</c:v>
              </c:pt>
              <c:pt idx="50">
                <c:v>1500</c:v>
              </c:pt>
              <c:pt idx="51">
                <c:v>1550</c:v>
              </c:pt>
              <c:pt idx="52">
                <c:v>1550</c:v>
              </c:pt>
              <c:pt idx="53">
                <c:v>1550</c:v>
              </c:pt>
              <c:pt idx="54">
                <c:v>1600</c:v>
              </c:pt>
              <c:pt idx="55">
                <c:v>1550</c:v>
              </c:pt>
              <c:pt idx="56">
                <c:v>1550</c:v>
              </c:pt>
              <c:pt idx="57">
                <c:v>1600</c:v>
              </c:pt>
              <c:pt idx="58">
                <c:v>1700</c:v>
              </c:pt>
              <c:pt idx="59">
                <c:v>1650</c:v>
              </c:pt>
              <c:pt idx="60">
                <c:v>1700</c:v>
              </c:pt>
              <c:pt idx="61">
                <c:v>1650</c:v>
              </c:pt>
              <c:pt idx="62">
                <c:v>1700</c:v>
              </c:pt>
              <c:pt idx="63">
                <c:v>1600</c:v>
              </c:pt>
              <c:pt idx="64">
                <c:v>2000</c:v>
              </c:pt>
              <c:pt idx="65">
                <c:v>2000</c:v>
              </c:pt>
              <c:pt idx="66">
                <c:v>1700</c:v>
              </c:pt>
              <c:pt idx="67">
                <c:v>1150</c:v>
              </c:pt>
              <c:pt idx="68">
                <c:v>2250</c:v>
              </c:pt>
              <c:pt idx="69">
                <c:v>2000</c:v>
              </c:pt>
              <c:pt idx="70">
                <c:v>1900</c:v>
              </c:pt>
              <c:pt idx="71">
                <c:v>2000</c:v>
              </c:pt>
              <c:pt idx="72">
                <c:v>1900</c:v>
              </c:pt>
              <c:pt idx="73">
                <c:v>2000</c:v>
              </c:pt>
              <c:pt idx="74">
                <c:v>1900</c:v>
              </c:pt>
              <c:pt idx="75">
                <c:v>1600</c:v>
              </c:pt>
              <c:pt idx="76">
                <c:v>1750</c:v>
              </c:pt>
              <c:pt idx="77">
                <c:v>1700</c:v>
              </c:pt>
              <c:pt idx="78">
                <c:v>1500</c:v>
              </c:pt>
              <c:pt idx="79">
                <c:v>1450</c:v>
              </c:pt>
              <c:pt idx="80">
                <c:v>1500</c:v>
              </c:pt>
              <c:pt idx="81">
                <c:v>1500</c:v>
              </c:pt>
              <c:pt idx="82">
                <c:v>1400</c:v>
              </c:pt>
              <c:pt idx="83">
                <c:v>1400</c:v>
              </c:pt>
              <c:pt idx="84">
                <c:v>1400</c:v>
              </c:pt>
              <c:pt idx="85">
                <c:v>1400</c:v>
              </c:pt>
              <c:pt idx="86">
                <c:v>1500</c:v>
              </c:pt>
              <c:pt idx="87">
                <c:v>1450</c:v>
              </c:pt>
              <c:pt idx="88">
                <c:v>1500</c:v>
              </c:pt>
              <c:pt idx="89">
                <c:v>1500</c:v>
              </c:pt>
              <c:pt idx="90">
                <c:v>1500</c:v>
              </c:pt>
              <c:pt idx="91">
                <c:v>1600</c:v>
              </c:pt>
              <c:pt idx="92">
                <c:v>1500</c:v>
              </c:pt>
              <c:pt idx="93">
                <c:v>2100</c:v>
              </c:pt>
              <c:pt idx="94">
                <c:v>2000</c:v>
              </c:pt>
              <c:pt idx="95">
                <c:v>2000</c:v>
              </c:pt>
              <c:pt idx="96">
                <c:v>1900</c:v>
              </c:pt>
              <c:pt idx="97">
                <c:v>2200</c:v>
              </c:pt>
              <c:pt idx="98">
                <c:v>1900</c:v>
              </c:pt>
              <c:pt idx="99">
                <c:v>2000</c:v>
              </c:pt>
              <c:pt idx="100">
                <c:v>1900</c:v>
              </c:pt>
              <c:pt idx="101">
                <c:v>2000</c:v>
              </c:pt>
              <c:pt idx="102">
                <c:v>1500</c:v>
              </c:pt>
              <c:pt idx="103">
                <c:v>1250</c:v>
              </c:pt>
              <c:pt idx="104">
                <c:v>1300</c:v>
              </c:pt>
              <c:pt idx="105">
                <c:v>1250</c:v>
              </c:pt>
              <c:pt idx="106">
                <c:v>1300</c:v>
              </c:pt>
              <c:pt idx="107">
                <c:v>1300</c:v>
              </c:pt>
            </c:numLit>
          </c:val>
        </c:ser>
        <c:ser>
          <c:idx val="1"/>
          <c:order val="1"/>
          <c:tx>
            <c:v>Predicted</c:v>
          </c:tx>
          <c:spPr>
            <a:ln xmlns:a="http://schemas.openxmlformats.org/drawingml/2006/main" w="19050">
              <a:solidFill>
                <a:srgbClr val="2F6B4F"/>
              </a:solidFill>
              <a:prstDash val="solid"/>
            </a:ln>
          </c:spPr>
          <c:marker>
            <c:symbol val="none"/>
          </c:marker>
          <c:cat>
            <c:strLit>
              <c:ptCount val="108"/>
              <c:pt idx="0">
                <c:v>06-08</c:v>
              </c:pt>
              <c:pt idx="1">
                <c:v>06-09</c:v>
              </c:pt>
              <c:pt idx="2">
                <c:v>06-10</c:v>
              </c:pt>
              <c:pt idx="3">
                <c:v>06-11</c:v>
              </c:pt>
              <c:pt idx="4">
                <c:v>06-13</c:v>
              </c:pt>
              <c:pt idx="5">
                <c:v>06-14</c:v>
              </c:pt>
              <c:pt idx="6">
                <c:v>06-15</c:v>
              </c:pt>
              <c:pt idx="7">
                <c:v>06-16</c:v>
              </c:pt>
              <c:pt idx="8">
                <c:v>06-17</c:v>
              </c:pt>
              <c:pt idx="9">
                <c:v>06-18</c:v>
              </c:pt>
              <c:pt idx="10">
                <c:v>06-20</c:v>
              </c:pt>
              <c:pt idx="11">
                <c:v>06-21</c:v>
              </c:pt>
              <c:pt idx="12">
                <c:v>06-22</c:v>
              </c:pt>
              <c:pt idx="13">
                <c:v>06-23</c:v>
              </c:pt>
              <c:pt idx="14">
                <c:v>06-24</c:v>
              </c:pt>
              <c:pt idx="15">
                <c:v>06-25</c:v>
              </c:pt>
              <c:pt idx="16">
                <c:v>06-27</c:v>
              </c:pt>
              <c:pt idx="17">
                <c:v>06-28</c:v>
              </c:pt>
              <c:pt idx="18">
                <c:v>06-29</c:v>
              </c:pt>
              <c:pt idx="19">
                <c:v>06-30</c:v>
              </c:pt>
              <c:pt idx="20">
                <c:v>07-01</c:v>
              </c:pt>
              <c:pt idx="21">
                <c:v>07-04</c:v>
              </c:pt>
              <c:pt idx="22">
                <c:v>07-05</c:v>
              </c:pt>
              <c:pt idx="23">
                <c:v>07-06</c:v>
              </c:pt>
              <c:pt idx="24">
                <c:v>07-07</c:v>
              </c:pt>
              <c:pt idx="25">
                <c:v>07-08</c:v>
              </c:pt>
              <c:pt idx="26">
                <c:v>07-09</c:v>
              </c:pt>
              <c:pt idx="27">
                <c:v>07-11</c:v>
              </c:pt>
              <c:pt idx="28">
                <c:v>07-12</c:v>
              </c:pt>
              <c:pt idx="29">
                <c:v>07-13</c:v>
              </c:pt>
              <c:pt idx="30">
                <c:v>07-14</c:v>
              </c:pt>
              <c:pt idx="31">
                <c:v>07-15</c:v>
              </c:pt>
              <c:pt idx="32">
                <c:v>07-16</c:v>
              </c:pt>
              <c:pt idx="33">
                <c:v>07-18</c:v>
              </c:pt>
              <c:pt idx="34">
                <c:v>07-19</c:v>
              </c:pt>
              <c:pt idx="35">
                <c:v>07-21</c:v>
              </c:pt>
              <c:pt idx="36">
                <c:v>07-22</c:v>
              </c:pt>
              <c:pt idx="37">
                <c:v>07-23</c:v>
              </c:pt>
              <c:pt idx="38">
                <c:v>07-27</c:v>
              </c:pt>
              <c:pt idx="39">
                <c:v>07-28</c:v>
              </c:pt>
              <c:pt idx="40">
                <c:v>07-29</c:v>
              </c:pt>
              <c:pt idx="41">
                <c:v>07-30</c:v>
              </c:pt>
              <c:pt idx="42">
                <c:v>08-01</c:v>
              </c:pt>
              <c:pt idx="43">
                <c:v>08-02</c:v>
              </c:pt>
              <c:pt idx="44">
                <c:v>08-03</c:v>
              </c:pt>
              <c:pt idx="45">
                <c:v>08-04</c:v>
              </c:pt>
              <c:pt idx="46">
                <c:v>08-05</c:v>
              </c:pt>
              <c:pt idx="47">
                <c:v>08-06</c:v>
              </c:pt>
              <c:pt idx="48">
                <c:v>08-08</c:v>
              </c:pt>
              <c:pt idx="49">
                <c:v>08-10</c:v>
              </c:pt>
              <c:pt idx="50">
                <c:v>08-11</c:v>
              </c:pt>
              <c:pt idx="51">
                <c:v>08-12</c:v>
              </c:pt>
              <c:pt idx="52">
                <c:v>08-13</c:v>
              </c:pt>
              <c:pt idx="53">
                <c:v>08-16</c:v>
              </c:pt>
              <c:pt idx="54">
                <c:v>08-17</c:v>
              </c:pt>
              <c:pt idx="55">
                <c:v>08-18</c:v>
              </c:pt>
              <c:pt idx="56">
                <c:v>08-19</c:v>
              </c:pt>
              <c:pt idx="57">
                <c:v>08-20</c:v>
              </c:pt>
              <c:pt idx="58">
                <c:v>08-22</c:v>
              </c:pt>
              <c:pt idx="59">
                <c:v>08-23</c:v>
              </c:pt>
              <c:pt idx="60">
                <c:v>08-24</c:v>
              </c:pt>
              <c:pt idx="61">
                <c:v>08-25</c:v>
              </c:pt>
              <c:pt idx="62">
                <c:v>08-26</c:v>
              </c:pt>
              <c:pt idx="63">
                <c:v>08-27</c:v>
              </c:pt>
              <c:pt idx="64">
                <c:v>08-29</c:v>
              </c:pt>
              <c:pt idx="65">
                <c:v>08-30</c:v>
              </c:pt>
              <c:pt idx="66">
                <c:v>09-01</c:v>
              </c:pt>
              <c:pt idx="67">
                <c:v>09-02</c:v>
              </c:pt>
              <c:pt idx="68">
                <c:v>09-03</c:v>
              </c:pt>
              <c:pt idx="69">
                <c:v>09-05</c:v>
              </c:pt>
              <c:pt idx="70">
                <c:v>09-06</c:v>
              </c:pt>
              <c:pt idx="71">
                <c:v>09-07</c:v>
              </c:pt>
              <c:pt idx="72">
                <c:v>09-08</c:v>
              </c:pt>
              <c:pt idx="73">
                <c:v>09-09</c:v>
              </c:pt>
              <c:pt idx="74">
                <c:v>09-10</c:v>
              </c:pt>
              <c:pt idx="75">
                <c:v>09-12</c:v>
              </c:pt>
              <c:pt idx="76">
                <c:v>09-13</c:v>
              </c:pt>
              <c:pt idx="77">
                <c:v>09-14</c:v>
              </c:pt>
              <c:pt idx="78">
                <c:v>09-15</c:v>
              </c:pt>
              <c:pt idx="79">
                <c:v>09-16</c:v>
              </c:pt>
              <c:pt idx="80">
                <c:v>09-17</c:v>
              </c:pt>
              <c:pt idx="81">
                <c:v>09-19</c:v>
              </c:pt>
              <c:pt idx="82">
                <c:v>09-20</c:v>
              </c:pt>
              <c:pt idx="83">
                <c:v>09-21</c:v>
              </c:pt>
              <c:pt idx="84">
                <c:v>09-22</c:v>
              </c:pt>
              <c:pt idx="85">
                <c:v>09-23</c:v>
              </c:pt>
              <c:pt idx="86">
                <c:v>09-24</c:v>
              </c:pt>
              <c:pt idx="87">
                <c:v>09-26</c:v>
              </c:pt>
              <c:pt idx="88">
                <c:v>09-27</c:v>
              </c:pt>
              <c:pt idx="89">
                <c:v>09-28</c:v>
              </c:pt>
              <c:pt idx="90">
                <c:v>09-29</c:v>
              </c:pt>
              <c:pt idx="91">
                <c:v>09-30</c:v>
              </c:pt>
              <c:pt idx="92">
                <c:v>10-01</c:v>
              </c:pt>
              <c:pt idx="93">
                <c:v>10-03</c:v>
              </c:pt>
              <c:pt idx="94">
                <c:v>10-04</c:v>
              </c:pt>
              <c:pt idx="95">
                <c:v>10-06</c:v>
              </c:pt>
              <c:pt idx="96">
                <c:v>10-07</c:v>
              </c:pt>
              <c:pt idx="97">
                <c:v>10-08</c:v>
              </c:pt>
              <c:pt idx="98">
                <c:v>10-12</c:v>
              </c:pt>
              <c:pt idx="99">
                <c:v>10-13</c:v>
              </c:pt>
              <c:pt idx="100">
                <c:v>10-14</c:v>
              </c:pt>
              <c:pt idx="101">
                <c:v>10-15</c:v>
              </c:pt>
              <c:pt idx="102">
                <c:v>10-17</c:v>
              </c:pt>
              <c:pt idx="103">
                <c:v>10-18</c:v>
              </c:pt>
              <c:pt idx="104">
                <c:v>10-26</c:v>
              </c:pt>
              <c:pt idx="105">
                <c:v>10-27</c:v>
              </c:pt>
              <c:pt idx="106">
                <c:v>10-28</c:v>
              </c:pt>
              <c:pt idx="107">
                <c:v>10-29</c:v>
              </c:pt>
            </c:strLit>
          </c:cat>
          <c:val>
            <c:numLit>
              <c:formatCode>General</c:formatCode>
              <c:ptCount val="108"/>
              <c:pt idx="0">
                <c:v>1250</c:v>
              </c:pt>
              <c:pt idx="1">
                <c:v>1250</c:v>
              </c:pt>
              <c:pt idx="2">
                <c:v>1350</c:v>
              </c:pt>
              <c:pt idx="3">
                <c:v>1250</c:v>
              </c:pt>
              <c:pt idx="4">
                <c:v>1400</c:v>
              </c:pt>
              <c:pt idx="5">
                <c:v>1400</c:v>
              </c:pt>
              <c:pt idx="6">
                <c:v>1400</c:v>
              </c:pt>
              <c:pt idx="7">
                <c:v>1500</c:v>
              </c:pt>
              <c:pt idx="8">
                <c:v>1400</c:v>
              </c:pt>
              <c:pt idx="9">
                <c:v>1350</c:v>
              </c:pt>
              <c:pt idx="10">
                <c:v>1500</c:v>
              </c:pt>
              <c:pt idx="11">
                <c:v>1500</c:v>
              </c:pt>
              <c:pt idx="12">
                <c:v>1400</c:v>
              </c:pt>
              <c:pt idx="13">
                <c:v>1400</c:v>
              </c:pt>
              <c:pt idx="14">
                <c:v>1300</c:v>
              </c:pt>
              <c:pt idx="15">
                <c:v>1450</c:v>
              </c:pt>
              <c:pt idx="16">
                <c:v>1350</c:v>
              </c:pt>
              <c:pt idx="17">
                <c:v>1450</c:v>
              </c:pt>
              <c:pt idx="18">
                <c:v>1700</c:v>
              </c:pt>
              <c:pt idx="19">
                <c:v>1600</c:v>
              </c:pt>
              <c:pt idx="20">
                <c:v>1700</c:v>
              </c:pt>
              <c:pt idx="21">
                <c:v>1750</c:v>
              </c:pt>
              <c:pt idx="22">
                <c:v>1400</c:v>
              </c:pt>
              <c:pt idx="23">
                <c:v>1500</c:v>
              </c:pt>
              <c:pt idx="24">
                <c:v>1550</c:v>
              </c:pt>
              <c:pt idx="25">
                <c:v>1400</c:v>
              </c:pt>
              <c:pt idx="26">
                <c:v>1450</c:v>
              </c:pt>
              <c:pt idx="27">
                <c:v>1450</c:v>
              </c:pt>
              <c:pt idx="28">
                <c:v>1350</c:v>
              </c:pt>
              <c:pt idx="29">
                <c:v>1450</c:v>
              </c:pt>
              <c:pt idx="30">
                <c:v>1400</c:v>
              </c:pt>
              <c:pt idx="31">
                <c:v>1450</c:v>
              </c:pt>
              <c:pt idx="32">
                <c:v>1350</c:v>
              </c:pt>
              <c:pt idx="33">
                <c:v>1400</c:v>
              </c:pt>
              <c:pt idx="34">
                <c:v>1400</c:v>
              </c:pt>
              <c:pt idx="35">
                <c:v>1500</c:v>
              </c:pt>
              <c:pt idx="36">
                <c:v>1500</c:v>
              </c:pt>
              <c:pt idx="37">
                <c:v>1550</c:v>
              </c:pt>
              <c:pt idx="38">
                <c:v>1500</c:v>
              </c:pt>
              <c:pt idx="39">
                <c:v>1400</c:v>
              </c:pt>
              <c:pt idx="40">
                <c:v>1350</c:v>
              </c:pt>
              <c:pt idx="41">
                <c:v>1300</c:v>
              </c:pt>
              <c:pt idx="42">
                <c:v>1350</c:v>
              </c:pt>
              <c:pt idx="43">
                <c:v>1450</c:v>
              </c:pt>
              <c:pt idx="44">
                <c:v>1400</c:v>
              </c:pt>
              <c:pt idx="45">
                <c:v>1450</c:v>
              </c:pt>
              <c:pt idx="46">
                <c:v>1500</c:v>
              </c:pt>
              <c:pt idx="47">
                <c:v>1450</c:v>
              </c:pt>
              <c:pt idx="48">
                <c:v>1500</c:v>
              </c:pt>
              <c:pt idx="49">
                <c:v>1450</c:v>
              </c:pt>
              <c:pt idx="50">
                <c:v>1550</c:v>
              </c:pt>
              <c:pt idx="51">
                <c:v>1500</c:v>
              </c:pt>
              <c:pt idx="52">
                <c:v>1550</c:v>
              </c:pt>
              <c:pt idx="53">
                <c:v>1550</c:v>
              </c:pt>
              <c:pt idx="54">
                <c:v>1550</c:v>
              </c:pt>
              <c:pt idx="55">
                <c:v>1600</c:v>
              </c:pt>
              <c:pt idx="56">
                <c:v>1550</c:v>
              </c:pt>
              <c:pt idx="57">
                <c:v>1550</c:v>
              </c:pt>
              <c:pt idx="58">
                <c:v>1600</c:v>
              </c:pt>
              <c:pt idx="59">
                <c:v>1700</c:v>
              </c:pt>
              <c:pt idx="60">
                <c:v>1650</c:v>
              </c:pt>
              <c:pt idx="61">
                <c:v>1700</c:v>
              </c:pt>
              <c:pt idx="62">
                <c:v>1650</c:v>
              </c:pt>
              <c:pt idx="63">
                <c:v>1700</c:v>
              </c:pt>
              <c:pt idx="64">
                <c:v>1600</c:v>
              </c:pt>
              <c:pt idx="65">
                <c:v>2000</c:v>
              </c:pt>
              <c:pt idx="66">
                <c:v>2000</c:v>
              </c:pt>
              <c:pt idx="67">
                <c:v>1700</c:v>
              </c:pt>
              <c:pt idx="68">
                <c:v>1150</c:v>
              </c:pt>
              <c:pt idx="69">
                <c:v>2250</c:v>
              </c:pt>
              <c:pt idx="70">
                <c:v>2000</c:v>
              </c:pt>
              <c:pt idx="71">
                <c:v>1900</c:v>
              </c:pt>
              <c:pt idx="72">
                <c:v>2000</c:v>
              </c:pt>
              <c:pt idx="73">
                <c:v>1900</c:v>
              </c:pt>
              <c:pt idx="74">
                <c:v>2000</c:v>
              </c:pt>
              <c:pt idx="75">
                <c:v>1900</c:v>
              </c:pt>
              <c:pt idx="76">
                <c:v>1600</c:v>
              </c:pt>
              <c:pt idx="77">
                <c:v>1750</c:v>
              </c:pt>
              <c:pt idx="78">
                <c:v>1700</c:v>
              </c:pt>
              <c:pt idx="79">
                <c:v>1500</c:v>
              </c:pt>
              <c:pt idx="80">
                <c:v>1450</c:v>
              </c:pt>
              <c:pt idx="81">
                <c:v>1500</c:v>
              </c:pt>
              <c:pt idx="82">
                <c:v>1500</c:v>
              </c:pt>
              <c:pt idx="83">
                <c:v>1400</c:v>
              </c:pt>
              <c:pt idx="84">
                <c:v>1400</c:v>
              </c:pt>
              <c:pt idx="85">
                <c:v>1400</c:v>
              </c:pt>
              <c:pt idx="86">
                <c:v>1400</c:v>
              </c:pt>
              <c:pt idx="87">
                <c:v>1500</c:v>
              </c:pt>
              <c:pt idx="88">
                <c:v>1450</c:v>
              </c:pt>
              <c:pt idx="89">
                <c:v>1500</c:v>
              </c:pt>
              <c:pt idx="90">
                <c:v>1500</c:v>
              </c:pt>
              <c:pt idx="91">
                <c:v>1500</c:v>
              </c:pt>
              <c:pt idx="92">
                <c:v>1600</c:v>
              </c:pt>
              <c:pt idx="93">
                <c:v>1500</c:v>
              </c:pt>
              <c:pt idx="94">
                <c:v>2100</c:v>
              </c:pt>
              <c:pt idx="95">
                <c:v>2000</c:v>
              </c:pt>
              <c:pt idx="96">
                <c:v>2000</c:v>
              </c:pt>
              <c:pt idx="97">
                <c:v>1900</c:v>
              </c:pt>
              <c:pt idx="98">
                <c:v>2200</c:v>
              </c:pt>
              <c:pt idx="99">
                <c:v>1900</c:v>
              </c:pt>
              <c:pt idx="100">
                <c:v>2000</c:v>
              </c:pt>
              <c:pt idx="101">
                <c:v>1900</c:v>
              </c:pt>
              <c:pt idx="102">
                <c:v>2000</c:v>
              </c:pt>
              <c:pt idx="103">
                <c:v>1500</c:v>
              </c:pt>
              <c:pt idx="104">
                <c:v>1250</c:v>
              </c:pt>
              <c:pt idx="105">
                <c:v>1300</c:v>
              </c:pt>
              <c:pt idx="106">
                <c:v>1250</c:v>
              </c:pt>
              <c:pt idx="107">
                <c:v>1300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Held-out reported 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lblOffset val="65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INR per quintal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Held-out observations</c:v>
          </c:tx>
          <c:spPr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6B4F"/>
              </a:solidFill>
            </c:spPr>
          </c:marker>
          <c:xVal>
            <c:numLit>
              <c:formatCode>General</c:formatCode>
              <c:ptCount val="120"/>
              <c:pt idx="0">
                <c:v>1665</c:v>
              </c:pt>
              <c:pt idx="1">
                <c:v>800</c:v>
              </c:pt>
              <c:pt idx="2">
                <c:v>1350</c:v>
              </c:pt>
              <c:pt idx="3">
                <c:v>1200</c:v>
              </c:pt>
              <c:pt idx="4">
                <c:v>1750</c:v>
              </c:pt>
              <c:pt idx="5">
                <c:v>1200</c:v>
              </c:pt>
              <c:pt idx="6">
                <c:v>1550</c:v>
              </c:pt>
              <c:pt idx="7">
                <c:v>1500</c:v>
              </c:pt>
              <c:pt idx="8">
                <c:v>1350</c:v>
              </c:pt>
              <c:pt idx="9">
                <c:v>1100</c:v>
              </c:pt>
              <c:pt idx="10">
                <c:v>1400</c:v>
              </c:pt>
              <c:pt idx="11">
                <c:v>900</c:v>
              </c:pt>
              <c:pt idx="12">
                <c:v>1350</c:v>
              </c:pt>
              <c:pt idx="13">
                <c:v>1475</c:v>
              </c:pt>
              <c:pt idx="14">
                <c:v>1500</c:v>
              </c:pt>
              <c:pt idx="15">
                <c:v>1400</c:v>
              </c:pt>
              <c:pt idx="16">
                <c:v>1350</c:v>
              </c:pt>
              <c:pt idx="17">
                <c:v>1400</c:v>
              </c:pt>
              <c:pt idx="18">
                <c:v>1050</c:v>
              </c:pt>
              <c:pt idx="19">
                <c:v>1550</c:v>
              </c:pt>
              <c:pt idx="20">
                <c:v>1050</c:v>
              </c:pt>
              <c:pt idx="21">
                <c:v>1000</c:v>
              </c:pt>
              <c:pt idx="22">
                <c:v>1650</c:v>
              </c:pt>
              <c:pt idx="23">
                <c:v>1650</c:v>
              </c:pt>
              <c:pt idx="24">
                <c:v>1500</c:v>
              </c:pt>
              <c:pt idx="25">
                <c:v>950</c:v>
              </c:pt>
              <c:pt idx="26">
                <c:v>1400</c:v>
              </c:pt>
              <c:pt idx="27">
                <c:v>1000</c:v>
              </c:pt>
              <c:pt idx="28">
                <c:v>1500</c:v>
              </c:pt>
              <c:pt idx="29">
                <c:v>950</c:v>
              </c:pt>
              <c:pt idx="30">
                <c:v>1500</c:v>
              </c:pt>
              <c:pt idx="31">
                <c:v>1150</c:v>
              </c:pt>
              <c:pt idx="32">
                <c:v>1200</c:v>
              </c:pt>
              <c:pt idx="33">
                <c:v>1300</c:v>
              </c:pt>
              <c:pt idx="34">
                <c:v>1200</c:v>
              </c:pt>
              <c:pt idx="35">
                <c:v>1000</c:v>
              </c:pt>
              <c:pt idx="36">
                <c:v>1250</c:v>
              </c:pt>
              <c:pt idx="37">
                <c:v>1050</c:v>
              </c:pt>
              <c:pt idx="38">
                <c:v>1450</c:v>
              </c:pt>
              <c:pt idx="39">
                <c:v>1000</c:v>
              </c:pt>
              <c:pt idx="40">
                <c:v>1450</c:v>
              </c:pt>
              <c:pt idx="41">
                <c:v>1000</c:v>
              </c:pt>
              <c:pt idx="42">
                <c:v>975</c:v>
              </c:pt>
              <c:pt idx="43">
                <c:v>956</c:v>
              </c:pt>
              <c:pt idx="44">
                <c:v>1000</c:v>
              </c:pt>
              <c:pt idx="45">
                <c:v>1200</c:v>
              </c:pt>
              <c:pt idx="46">
                <c:v>1200</c:v>
              </c:pt>
              <c:pt idx="47">
                <c:v>1550</c:v>
              </c:pt>
              <c:pt idx="48">
                <c:v>1250</c:v>
              </c:pt>
              <c:pt idx="49">
                <c:v>900</c:v>
              </c:pt>
              <c:pt idx="50">
                <c:v>1200</c:v>
              </c:pt>
              <c:pt idx="51">
                <c:v>1050</c:v>
              </c:pt>
              <c:pt idx="52">
                <c:v>1000</c:v>
              </c:pt>
              <c:pt idx="53">
                <c:v>1100</c:v>
              </c:pt>
              <c:pt idx="54">
                <c:v>950</c:v>
              </c:pt>
              <c:pt idx="55">
                <c:v>1000</c:v>
              </c:pt>
              <c:pt idx="56">
                <c:v>1200</c:v>
              </c:pt>
              <c:pt idx="57">
                <c:v>1275</c:v>
              </c:pt>
              <c:pt idx="58">
                <c:v>1200</c:v>
              </c:pt>
              <c:pt idx="59">
                <c:v>1000</c:v>
              </c:pt>
              <c:pt idx="60">
                <c:v>1450</c:v>
              </c:pt>
              <c:pt idx="61">
                <c:v>800</c:v>
              </c:pt>
              <c:pt idx="62">
                <c:v>1275</c:v>
              </c:pt>
              <c:pt idx="63">
                <c:v>1050</c:v>
              </c:pt>
              <c:pt idx="64">
                <c:v>800</c:v>
              </c:pt>
              <c:pt idx="65">
                <c:v>1150</c:v>
              </c:pt>
              <c:pt idx="66">
                <c:v>1200</c:v>
              </c:pt>
              <c:pt idx="67">
                <c:v>1375</c:v>
              </c:pt>
              <c:pt idx="68">
                <c:v>1500</c:v>
              </c:pt>
              <c:pt idx="69">
                <c:v>1150</c:v>
              </c:pt>
              <c:pt idx="70">
                <c:v>1550</c:v>
              </c:pt>
              <c:pt idx="71">
                <c:v>1300</c:v>
              </c:pt>
              <c:pt idx="72">
                <c:v>1100</c:v>
              </c:pt>
              <c:pt idx="73">
                <c:v>1550</c:v>
              </c:pt>
              <c:pt idx="74">
                <c:v>1000</c:v>
              </c:pt>
              <c:pt idx="75">
                <c:v>1155</c:v>
              </c:pt>
              <c:pt idx="76">
                <c:v>1000</c:v>
              </c:pt>
              <c:pt idx="77">
                <c:v>500</c:v>
              </c:pt>
              <c:pt idx="78">
                <c:v>800</c:v>
              </c:pt>
              <c:pt idx="79">
                <c:v>1000</c:v>
              </c:pt>
              <c:pt idx="80">
                <c:v>1050</c:v>
              </c:pt>
              <c:pt idx="81">
                <c:v>1300</c:v>
              </c:pt>
              <c:pt idx="82">
                <c:v>900</c:v>
              </c:pt>
              <c:pt idx="83">
                <c:v>1200</c:v>
              </c:pt>
              <c:pt idx="84">
                <c:v>900</c:v>
              </c:pt>
              <c:pt idx="85">
                <c:v>1700</c:v>
              </c:pt>
              <c:pt idx="86">
                <c:v>1150</c:v>
              </c:pt>
              <c:pt idx="87">
                <c:v>868</c:v>
              </c:pt>
              <c:pt idx="88">
                <c:v>1050</c:v>
              </c:pt>
              <c:pt idx="89">
                <c:v>1000</c:v>
              </c:pt>
              <c:pt idx="90">
                <c:v>1375</c:v>
              </c:pt>
              <c:pt idx="91">
                <c:v>1050</c:v>
              </c:pt>
              <c:pt idx="92">
                <c:v>1150</c:v>
              </c:pt>
              <c:pt idx="93">
                <c:v>1125</c:v>
              </c:pt>
              <c:pt idx="94">
                <c:v>1000</c:v>
              </c:pt>
              <c:pt idx="95">
                <c:v>800</c:v>
              </c:pt>
              <c:pt idx="96">
                <c:v>1150</c:v>
              </c:pt>
              <c:pt idx="97">
                <c:v>1000</c:v>
              </c:pt>
              <c:pt idx="98">
                <c:v>1050</c:v>
              </c:pt>
              <c:pt idx="99">
                <c:v>875</c:v>
              </c:pt>
              <c:pt idx="100">
                <c:v>1050</c:v>
              </c:pt>
              <c:pt idx="101">
                <c:v>900</c:v>
              </c:pt>
              <c:pt idx="102">
                <c:v>700</c:v>
              </c:pt>
              <c:pt idx="103">
                <c:v>1200</c:v>
              </c:pt>
              <c:pt idx="104">
                <c:v>1100</c:v>
              </c:pt>
              <c:pt idx="105">
                <c:v>1400</c:v>
              </c:pt>
              <c:pt idx="106">
                <c:v>650</c:v>
              </c:pt>
              <c:pt idx="107">
                <c:v>1200</c:v>
              </c:pt>
              <c:pt idx="108">
                <c:v>1000</c:v>
              </c:pt>
              <c:pt idx="109">
                <c:v>950</c:v>
              </c:pt>
              <c:pt idx="110">
                <c:v>1100</c:v>
              </c:pt>
              <c:pt idx="111">
                <c:v>1000</c:v>
              </c:pt>
              <c:pt idx="112">
                <c:v>1000</c:v>
              </c:pt>
              <c:pt idx="113">
                <c:v>1150</c:v>
              </c:pt>
              <c:pt idx="114">
                <c:v>900</c:v>
              </c:pt>
              <c:pt idx="115">
                <c:v>600</c:v>
              </c:pt>
              <c:pt idx="116">
                <c:v>1050</c:v>
              </c:pt>
              <c:pt idx="117">
                <c:v>995</c:v>
              </c:pt>
              <c:pt idx="118">
                <c:v>1000</c:v>
              </c:pt>
              <c:pt idx="119">
                <c:v>1000</c:v>
              </c:pt>
            </c:numLit>
          </c:xVal>
          <c:yVal>
            <c:numLit>
              <c:formatCode>General</c:formatCode>
              <c:ptCount val="120"/>
              <c:pt idx="0">
                <c:v>1621</c:v>
              </c:pt>
              <c:pt idx="1">
                <c:v>800</c:v>
              </c:pt>
              <c:pt idx="2">
                <c:v>1250</c:v>
              </c:pt>
              <c:pt idx="3">
                <c:v>1200</c:v>
              </c:pt>
              <c:pt idx="4">
                <c:v>1550</c:v>
              </c:pt>
              <c:pt idx="5">
                <c:v>1200</c:v>
              </c:pt>
              <c:pt idx="6">
                <c:v>1450</c:v>
              </c:pt>
              <c:pt idx="7">
                <c:v>1500</c:v>
              </c:pt>
              <c:pt idx="8">
                <c:v>1300</c:v>
              </c:pt>
              <c:pt idx="9">
                <c:v>1100</c:v>
              </c:pt>
              <c:pt idx="10">
                <c:v>1501</c:v>
              </c:pt>
              <c:pt idx="11">
                <c:v>900</c:v>
              </c:pt>
              <c:pt idx="12">
                <c:v>1450</c:v>
              </c:pt>
              <c:pt idx="13">
                <c:v>1500</c:v>
              </c:pt>
              <c:pt idx="14">
                <c:v>1500</c:v>
              </c:pt>
              <c:pt idx="15">
                <c:v>1400</c:v>
              </c:pt>
              <c:pt idx="16">
                <c:v>1400</c:v>
              </c:pt>
              <c:pt idx="17">
                <c:v>1400</c:v>
              </c:pt>
              <c:pt idx="18">
                <c:v>1100</c:v>
              </c:pt>
              <c:pt idx="19">
                <c:v>1450</c:v>
              </c:pt>
              <c:pt idx="20">
                <c:v>1100</c:v>
              </c:pt>
              <c:pt idx="21">
                <c:v>1200</c:v>
              </c:pt>
              <c:pt idx="22">
                <c:v>1250</c:v>
              </c:pt>
              <c:pt idx="23">
                <c:v>550</c:v>
              </c:pt>
              <c:pt idx="24">
                <c:v>1400</c:v>
              </c:pt>
              <c:pt idx="25">
                <c:v>1650</c:v>
              </c:pt>
              <c:pt idx="26">
                <c:v>1400</c:v>
              </c:pt>
              <c:pt idx="27">
                <c:v>1000</c:v>
              </c:pt>
              <c:pt idx="28">
                <c:v>1550</c:v>
              </c:pt>
              <c:pt idx="29">
                <c:v>950</c:v>
              </c:pt>
              <c:pt idx="30">
                <c:v>1400</c:v>
              </c:pt>
              <c:pt idx="31">
                <c:v>1250</c:v>
              </c:pt>
              <c:pt idx="32">
                <c:v>1550</c:v>
              </c:pt>
              <c:pt idx="33">
                <c:v>1500</c:v>
              </c:pt>
              <c:pt idx="34">
                <c:v>1500</c:v>
              </c:pt>
              <c:pt idx="35">
                <c:v>1000</c:v>
              </c:pt>
              <c:pt idx="36">
                <c:v>1375</c:v>
              </c:pt>
              <c:pt idx="37">
                <c:v>1150</c:v>
              </c:pt>
              <c:pt idx="38">
                <c:v>1350</c:v>
              </c:pt>
              <c:pt idx="39">
                <c:v>1000</c:v>
              </c:pt>
              <c:pt idx="40">
                <c:v>1400</c:v>
              </c:pt>
              <c:pt idx="41">
                <c:v>985</c:v>
              </c:pt>
              <c:pt idx="42">
                <c:v>950</c:v>
              </c:pt>
              <c:pt idx="43">
                <c:v>975</c:v>
              </c:pt>
              <c:pt idx="44">
                <c:v>1000</c:v>
              </c:pt>
              <c:pt idx="45">
                <c:v>1200</c:v>
              </c:pt>
              <c:pt idx="46">
                <c:v>1000</c:v>
              </c:pt>
              <c:pt idx="47">
                <c:v>450</c:v>
              </c:pt>
              <c:pt idx="48">
                <c:v>1250</c:v>
              </c:pt>
              <c:pt idx="49">
                <c:v>1000</c:v>
              </c:pt>
              <c:pt idx="50">
                <c:v>1200</c:v>
              </c:pt>
              <c:pt idx="51">
                <c:v>1350</c:v>
              </c:pt>
              <c:pt idx="52">
                <c:v>1000</c:v>
              </c:pt>
              <c:pt idx="53">
                <c:v>1100</c:v>
              </c:pt>
              <c:pt idx="54">
                <c:v>955</c:v>
              </c:pt>
              <c:pt idx="55">
                <c:v>1000</c:v>
              </c:pt>
              <c:pt idx="56">
                <c:v>1100</c:v>
              </c:pt>
              <c:pt idx="57">
                <c:v>1300</c:v>
              </c:pt>
              <c:pt idx="58">
                <c:v>1200</c:v>
              </c:pt>
              <c:pt idx="59">
                <c:v>1000</c:v>
              </c:pt>
              <c:pt idx="60">
                <c:v>950</c:v>
              </c:pt>
              <c:pt idx="61">
                <c:v>1000</c:v>
              </c:pt>
              <c:pt idx="62">
                <c:v>1275</c:v>
              </c:pt>
              <c:pt idx="63">
                <c:v>800</c:v>
              </c:pt>
              <c:pt idx="64">
                <c:v>850</c:v>
              </c:pt>
              <c:pt idx="65">
                <c:v>1050</c:v>
              </c:pt>
              <c:pt idx="66">
                <c:v>1100</c:v>
              </c:pt>
              <c:pt idx="67">
                <c:v>1250</c:v>
              </c:pt>
              <c:pt idx="68">
                <c:v>1375</c:v>
              </c:pt>
              <c:pt idx="69">
                <c:v>1411</c:v>
              </c:pt>
              <c:pt idx="70">
                <c:v>1450</c:v>
              </c:pt>
              <c:pt idx="71">
                <c:v>1300</c:v>
              </c:pt>
              <c:pt idx="72">
                <c:v>1050</c:v>
              </c:pt>
              <c:pt idx="73">
                <c:v>1600</c:v>
              </c:pt>
              <c:pt idx="74">
                <c:v>800</c:v>
              </c:pt>
              <c:pt idx="75">
                <c:v>1150</c:v>
              </c:pt>
              <c:pt idx="76">
                <c:v>1050</c:v>
              </c:pt>
              <c:pt idx="77">
                <c:v>1650</c:v>
              </c:pt>
              <c:pt idx="78">
                <c:v>900</c:v>
              </c:pt>
              <c:pt idx="79">
                <c:v>1200</c:v>
              </c:pt>
              <c:pt idx="80">
                <c:v>1100</c:v>
              </c:pt>
              <c:pt idx="81">
                <c:v>1400</c:v>
              </c:pt>
              <c:pt idx="82">
                <c:v>1050</c:v>
              </c:pt>
              <c:pt idx="83">
                <c:v>1300</c:v>
              </c:pt>
              <c:pt idx="84">
                <c:v>1000</c:v>
              </c:pt>
              <c:pt idx="85">
                <c:v>2000</c:v>
              </c:pt>
              <c:pt idx="86">
                <c:v>1700</c:v>
              </c:pt>
              <c:pt idx="87">
                <c:v>1200</c:v>
              </c:pt>
              <c:pt idx="88">
                <c:v>1050</c:v>
              </c:pt>
              <c:pt idx="89">
                <c:v>1000</c:v>
              </c:pt>
              <c:pt idx="90">
                <c:v>1350</c:v>
              </c:pt>
              <c:pt idx="91">
                <c:v>1050</c:v>
              </c:pt>
              <c:pt idx="92">
                <c:v>1150</c:v>
              </c:pt>
              <c:pt idx="93">
                <c:v>1150</c:v>
              </c:pt>
              <c:pt idx="94">
                <c:v>1250</c:v>
              </c:pt>
              <c:pt idx="95">
                <c:v>900</c:v>
              </c:pt>
              <c:pt idx="96">
                <c:v>1250</c:v>
              </c:pt>
              <c:pt idx="97">
                <c:v>800</c:v>
              </c:pt>
              <c:pt idx="98">
                <c:v>1000</c:v>
              </c:pt>
              <c:pt idx="99">
                <c:v>851</c:v>
              </c:pt>
              <c:pt idx="100">
                <c:v>1000</c:v>
              </c:pt>
              <c:pt idx="101">
                <c:v>900</c:v>
              </c:pt>
              <c:pt idx="102">
                <c:v>950</c:v>
              </c:pt>
              <c:pt idx="103">
                <c:v>1200</c:v>
              </c:pt>
              <c:pt idx="104">
                <c:v>1200</c:v>
              </c:pt>
              <c:pt idx="105">
                <c:v>1500</c:v>
              </c:pt>
              <c:pt idx="106">
                <c:v>700</c:v>
              </c:pt>
              <c:pt idx="107">
                <c:v>1100</c:v>
              </c:pt>
              <c:pt idx="108">
                <c:v>805</c:v>
              </c:pt>
              <c:pt idx="109">
                <c:v>925</c:v>
              </c:pt>
              <c:pt idx="110">
                <c:v>1100</c:v>
              </c:pt>
              <c:pt idx="111">
                <c:v>1000</c:v>
              </c:pt>
              <c:pt idx="112">
                <c:v>900</c:v>
              </c:pt>
              <c:pt idx="113">
                <c:v>1150</c:v>
              </c:pt>
              <c:pt idx="114">
                <c:v>925</c:v>
              </c:pt>
              <c:pt idx="115">
                <c:v>1000</c:v>
              </c:pt>
              <c:pt idx="116">
                <c:v>950</c:v>
              </c:pt>
              <c:pt idx="117">
                <c:v>1075</c:v>
              </c:pt>
              <c:pt idx="118">
                <c:v>1050</c:v>
              </c:pt>
              <c:pt idx="119">
                <c:v>900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Predicted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Actual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26025-8B2D-4A46-9AC4-E2AC70D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83B90-D5BA-4417-BF03-6FEEF52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038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69"/>
          </a:bodyPr>
          <a:lstStyle xmlns:a="http://schemas.openxmlformats.org/drawingml/2006/main">
            <a:defPPr algn="l">
              <a:def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AgriFlow: Agricultural Market Price Analysis and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BB665-96C8-4CD6-BC3A-0CF8320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Spatiotemporal Market Integration and Machine Learning-Based Price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31A88-423B-4D8F-BA33-EF5D818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E156F-38C7-4069-8697-168DFAC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CSI3004 Data Science Programming</a:t>
            </a:r>
          </a:p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Vellore Institute of Technology, Vellore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DA2AD-0522-4E11-A42E-43973B5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Kasinath C A - 24MID0124</a:t>
            </a:r>
          </a:p>
          <a:p xmlns:a="http://schemas.openxmlformats.org/drawingml/2006/main">
            <a: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Kamal Nayan C S - 24MID0189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AAC94-D380-4A53-9D31-76CFEB2C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Final Review | 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643537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7E5A1-2D09-4B52-AE38-EEA4E310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B455F-D581-4595-9BC0-76824FEE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901BF-108F-483D-8AFB-8FE3542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93218-0A20-4879-BCC6-9A4220A5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42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Wholesale Onion prices vary sharply across markets and seasons.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Markets report on uneven dates, which complicates direct comparison.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Analysts need both descriptive market evidence and a cautious short-horizon forecast.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Intended users include market analysts, agricultural researchers and other stakeholders.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98AB2-6DB8-4427-972B-8548B015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Uneven market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73BCA-1D21-4E2D-AFF9-C54DBA3A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Validated historical 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32521-ADFB-4D32-ACEE-73D0FE53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0522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Analysis plus next-report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33A5C-97C6-405C-96AA-B122BA28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71848-2311-4642-9948-8594F1FB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07D56-F211-41DE-8AFB-DB008CC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A9771-39EF-42E8-AE5C-0AA8B80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The predictive task estimates the next reported observation, not an exact next-day or current market price.</a:t>
            </a:r>
          </a:p>
        </p:txBody>
      </p:sp>
    </p:spTree>
    <p:extLst>
      <p:ext uri="{BB962C8B-B14F-4D97-AF65-F5344CB8AC3E}">
        <p14:creationId xmlns:p14="http://schemas.microsoft.com/office/powerpoint/2010/main" val="852667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8FEA7-3A48-45EC-BB1E-B697021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BE891-102E-436A-BAD8-399737A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20B98-0B6C-4309-BA70-D55A8F3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80C2A-B594-473E-8E9A-27AF372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763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C63B-007B-42F0-9148-B33170FE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001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Acquire and clean historical market prices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02335-A197-45D5-A4F0-26D95629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7,794 validated market-day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1EDE8-E4E9-420A-9FB2-6A7E2E6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145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81776-F539-4F2F-92B5-8BD4FC6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2B385-018F-4F80-B032-8A1AAA49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Characterize trends and reporting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C3167-A3B9-4810-B5A7-8A32BF44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6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Existing exploratory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E7D70-D5AF-4CD4-8458-72B2B8C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289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7C902-3BF1-477E-B9E9-EDABB7B4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0E661-B96B-4531-B637-919C075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Analyze integration and price transmission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ADB0A-06A3-49C2-AA79-20E3590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Lead-lag, network and geography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3EB4-EEE4-4291-88A9-CA8AE5A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2258A-4921-4E7E-BDAF-C1C6AEC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589CD-E727-42C9-8D87-31B6459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Develop and compare forecasting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DD7DC-B617-49F7-8339-0A72083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48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Six candidates on a common temporal cohort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3554B-2BA9-4866-A523-15D40C74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577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06F83-375B-4D52-8A91-1A9FC39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33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B8DFB-435C-4E0F-A598-3FE5AB5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Deliver a reproducible analytical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34706-AD9D-4A1F-9BBD-59430E6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29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Offline training, saved inference and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48438-C76E-4AF1-94F1-941F271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7575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7A4F2-5CA1-4292-9396-D57820A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Proposed Solution 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661D-CF2E-49D5-A344-35B88C9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A0A11-A0E5-49B5-AF21-90C26873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FAD4-E4E8-4B4F-B724-7DBC19F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Historical</a:t>
            </a:r>
          </a:p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E1310-23D1-485B-BAE6-DE3C840B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B63CA-B17A-4F45-A112-5957C7E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B8536-5DFC-40F0-854B-496DC965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2B984-70E4-4747-9232-9BDE805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CB8A4-7DCD-4B23-A3F5-44E9FEE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Temporal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EABFE-0A32-4318-90B8-0AE213D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58453-D46E-4CC7-AD03-24338F3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DCA6D-1775-4EFC-A2E4-04B1763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04264-1731-4D10-8D97-9661E7D6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8627D-305C-474A-945E-3796DB95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3E0B0-B503-4463-91CB-6E108EB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9CE6F-236C-42E1-8D59-9F2375C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5DEAD-D5F4-4F6F-87C2-A89DE847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3003E-3F5C-4C88-AFB2-56B48FE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D7F4C-98EE-4ED7-BF23-37C9E7E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4B9C6-1345-466D-8D33-964D971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Existing analytical branch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DBFEB-3ECF-4B29-8368-5A651FD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Trends and 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417D4-B483-422F-B406-809BAC10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Lead-lag and network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BE1E9-3459-43DD-A708-BF314A8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Geography and 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8237D-2551-42CA-ADCB-0FFB8115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243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Quality and research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D1DD2-A7F9-41EE-80C8-C2782B2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All normal execution paths use local files. No cloud service, live market API or training inside dashboard callbacks is required.</a:t>
            </a:r>
          </a:p>
        </p:txBody>
      </p:sp>
    </p:spTree>
    <p:extLst>
      <p:ext uri="{BB962C8B-B14F-4D97-AF65-F5344CB8AC3E}">
        <p14:creationId xmlns:p14="http://schemas.microsoft.com/office/powerpoint/2010/main" val="1862075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C53F9-2F65-460B-A12B-7789CB2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Dataset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F4C7A-68AD-420F-8947-65D10D5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E2796-F3A6-44F2-91CD-5FA8023B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C10B8-2E47-4B8E-920B-69376C20FE6E}"/>
              </a:ext>
            </a:extLst>
          </p:cNvPr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5429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810000"/>
              </a:tblGrid>
              <a:tr h="612321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Observed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CEDA Agri Market Data / AGMARKNET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Commodity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Onion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Maharashtra; 4 districts; 25 markets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8,499 raw; 7,794 processed market-days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Dates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01 Jan 2023 to 30 Oct 2025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Target and 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modal_price; INR per quintal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CE33E80-6693-4F27-92A4-0CB16017DFCC}"/>
              </a:ext>
            </a:extLst>
          </p:cNvPr>
          <p:cNvGraphicFramePr/>
          <p:nvPr/>
        </p:nvGraphicFramePr>
        <p:xfrm>
          <a:off xmlns:a="http://schemas.openxmlformats.org/drawingml/2006/main" x="6429375" y="1285875"/>
          <a:ext xmlns:a="http://schemas.openxmlformats.org/drawingml/2006/main" cx="5048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124e82e63d48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6A0DC-FC16-45FA-AFE0-A6174D6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Experimental evidence covers Maharashtra only. The India map remains a visualization capability, not a claim of national experimental coverage.</a:t>
            </a:r>
          </a:p>
        </p:txBody>
      </p:sp>
    </p:spTree>
    <p:extLst>
      <p:ext uri="{BB962C8B-B14F-4D97-AF65-F5344CB8AC3E}">
        <p14:creationId xmlns:p14="http://schemas.microsoft.com/office/powerpoint/2010/main" val="122382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DF6B0-B618-4D19-B826-177B882E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Data Preprocessing and Exploratory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B0FF3-F279-4BD7-8512-D1FF785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E2C0-2909-402C-8F16-FA4159A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90FDB-4415-44DE-BB40-0A88A61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4000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Parsed dates and enforced positive numeric modal prices.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Removed duplicate market-date-commodity targets; none remained.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Kept missing reports absent rather than filling prices with zero.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Built market-specific lags and shifted rolling statistics.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Excluded 322 rows lacking complete 14-report history.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AFA173D-9B79-4284-B0D8-2FDF21ACB976}"/>
              </a:ext>
            </a:extLst>
          </p:cNvPr>
          <p:cNvGraphicFramePr/>
          <p:nvPr/>
        </p:nvGraphicFramePr>
        <p:xfrm>
          <a:off xmlns:a="http://schemas.openxmlformats.org/drawingml/2006/main" x="4762500" y="12001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185cd4fd9c4f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A3310-4286-41D1-A670-F400A0D7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Observed row flow: 8,499 raw checkpoint rows to 7,794 processed market-days to 7,378 modeling rows across 23 eligible markets.</a:t>
            </a:r>
          </a:p>
        </p:txBody>
      </p:sp>
    </p:spTree>
    <p:extLst>
      <p:ext uri="{BB962C8B-B14F-4D97-AF65-F5344CB8AC3E}">
        <p14:creationId xmlns:p14="http://schemas.microsoft.com/office/powerpoint/2010/main" val="684602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68EBA-D7FF-4EFC-BE13-E0B72256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C9B6-08EC-400D-8468-5437E1C3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D78DC-8BDB-40A0-81BA-336B9DC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4B18D-9BC8-4F9F-97BF-82A7AA5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Forecast horizon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618B-EA43-4490-A13A-8E364EE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Next reported market 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2ADC0-1ECD-4E5B-BFC0-33FA82A7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3D22-38B6-4FB7-9831-63C443E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through 13 Jan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07160-146E-499F-9282-3EC9805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5,199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1AF4E-9FB9-4A36-9CF8-967E4766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2E4B8-9D8F-4D03-B51B-7CDFF52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14 Jan to 07 Jun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9DA01-9D63-414A-B2CF-D30A3B25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1,106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16B4A-941F-4FCE-A6B3-D574C23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A6B9-06BA-49FE-98A1-7BA91017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08 Jun to 30 Oct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B1602-8F0E-46D4-8450-337C46A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1,073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2DC45-C48B-4BC3-B081-F0314F6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09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Global target-date boundaries prevent later targets from entering training.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Every rolling feature uses a one-observation shift within its market.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Validation MAE selects the model; validation RMSE resolves ties.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The held-out test set supports the final comparison only after selection.</a:t>
            </a:r>
          </a:p>
        </p:txBody>
      </p:sp>
    </p:spTree>
    <p:extLst>
      <p:ext uri="{BB962C8B-B14F-4D97-AF65-F5344CB8AC3E}">
        <p14:creationId xmlns:p14="http://schemas.microsoft.com/office/powerpoint/2010/main" val="275465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9F85F-184F-4AA1-ADCD-59A4E954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Model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CE29F-5DFD-4610-8FDF-B5A2323D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9EC99-B84F-46CB-A221-5F849E81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682C1-2FA0-4339-BE00-8091943DCDC6}"/>
              </a:ext>
            </a:extLst>
          </p:cNvPr>
          <p:cNvGraphicFramePr/>
          <p:nvPr/>
        </p:nvGraphicFramePr>
        <p:xfrm>
          <a:off xmlns:a="http://schemas.openxmlformats.org/drawingml/2006/main" x="495300" y="12001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219200"/>
                <a:gridCol w="2952750"/>
                <a:gridCol w="2476500"/>
                <a:gridCol w="2552700"/>
              </a:tblGrid>
              <a:tr h="639536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Principal parameters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Advantage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Drawback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M0 Persistence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prediction = lag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Strong local benchmark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Cannot anticipate turning points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M1 Lag-7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prediction = lag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Simple longer memory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Ignores recent reports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M2 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alpha 1.0; scaled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Stable and interpretable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Linear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M3 Decision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Tree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depth 8; leaf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Nonlinear rules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Overfitting 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M4 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Ensemble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200 trees; depth 12; leaf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Robust nonlinear fit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Less transparent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M5 Hist Gradient 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Boosting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150 iterations; rate 0.05; 15 leaves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Efficient nonlinear model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Sensitive to drift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859B7-163F-4F3B-8DFB-991A589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Python 3.12; pandas 2.3.3; NumPy 2.5.3; scikit-learn 1.9.1; deterministic seed 42.</a:t>
            </a:r>
          </a:p>
        </p:txBody>
      </p:sp>
    </p:spTree>
    <p:extLst>
      <p:ext uri="{BB962C8B-B14F-4D97-AF65-F5344CB8AC3E}">
        <p14:creationId xmlns:p14="http://schemas.microsoft.com/office/powerpoint/2010/main" val="1156795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E78CB-9349-47A1-B8C9-BEEFAB1D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7D9D-9137-4B8D-AB95-63BFC6D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A6D8A-BF76-4887-9D66-F329DB0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C4C68-0005-4680-88B0-F3CC88A4FE9F}"/>
              </a:ext>
            </a:extLst>
          </p:cNvPr>
          <p:cNvGraphicFramePr/>
          <p:nvPr/>
        </p:nvGraphicFramePr>
        <p:xfrm>
          <a:off xmlns:a="http://schemas.openxmlformats.org/drawingml/2006/main" x="590550" y="1143000"/>
          <a:ext xmlns:a="http://schemas.openxmlformats.org/drawingml/2006/main" cx="68580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2190750"/>
              </a:tblGrid>
              <a:tr h="43728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Unit / preferred direction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absolute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squared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squared 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square root of 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R-squared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1 - SSE/SST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unitless; higher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absolute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sMAPE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symmetric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WAPE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weighted absolute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Median 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median absolute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Mean bias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mean(predicted - actual)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near zero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Directional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matching movement signs vs lag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higher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61E68-ADE1-4174-ADC5-AAF6414C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MAE = mean(|y - yhat|)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72AFF-8010-4924-8595-4D9AF9D9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RMSE = sqrt(mean((y - yhat)^2))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2B860-256A-42B6-9C02-8E516D68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MAPE = 100 mean(|(y - yhat) / y|)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9E868-8DC4-4F91-9AEB-622C15A2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Direction = sign(price - lag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027CC-FA6F-467E-93A7-ACC39B9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101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>
            <a:def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Selection rule</a:t>
            </a:r>
          </a:p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Lowest validation MAE; validation RMSE breaks ties</a:t>
            </a:r>
          </a:p>
        </p:txBody>
      </p:sp>
    </p:spTree>
    <p:extLst>
      <p:ext uri="{BB962C8B-B14F-4D97-AF65-F5344CB8AC3E}">
        <p14:creationId xmlns:p14="http://schemas.microsoft.com/office/powerpoint/2010/main" val="334189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69F48-7593-422E-80A0-E30D741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Model Performance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67928-A724-41FE-B809-8F408A21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82EB-F633-4D79-9D02-6460805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3306B0F-58EA-41EE-AC26-577EB35DBA4F}"/>
              </a:ext>
            </a:extLst>
          </p:cNvPr>
          <p:cNvGraphicFramePr/>
          <p:nvPr/>
        </p:nvGraphicFramePr>
        <p:xfrm>
          <a:off xmlns:a="http://schemas.openxmlformats.org/drawingml/2006/main" x="533400" y="1181100"/>
          <a:ext xmlns:a="http://schemas.openxmlformats.org/drawingml/2006/main" cx="528637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663f61c0d4fee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54B5348-4D7F-46F9-B6DF-C34ABB8DCA22}"/>
              </a:ext>
            </a:extLst>
          </p:cNvPr>
          <p:cNvGraphicFramePr/>
          <p:nvPr/>
        </p:nvGraphicFramePr>
        <p:xfrm>
          <a:off xmlns:a="http://schemas.openxmlformats.org/drawingml/2006/main" x="6115050" y="1181100"/>
          <a:ext xmlns:a="http://schemas.openxmlformats.org/drawingml/2006/main" cx="528637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8c7162b954a41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E604-F417-4319-9467-FB9D2EBCBA25}"/>
              </a:ext>
            </a:extLst>
          </p:cNvPr>
          <p:cNvGraphicFramePr/>
          <p:nvPr/>
        </p:nvGraphicFramePr>
        <p:xfrm>
          <a:off xmlns:a="http://schemas.openxmlformats.org/drawingml/2006/main" x="1924050" y="4305300"/>
          <a:ext xmlns:a="http://schemas.openxmlformats.org/drawingml/2006/main" cx="83439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248150"/>
              </a:tblGrid>
              <a:tr h="285750">
                <a:tc>
                  <a:txBody>
                    <a:bodyPr/>
                    <a:lstStyle/>
                    <a:p>
                      <a:r>
                        <a:t>Validation-selected 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M0 Persistence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Validation 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128.2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Held-out test 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101.4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Held-out test RMSE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181.0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Improvement vs persistence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B686D-089A-460D-B172-ADA19734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Persistence won the validation rule. No machine-learning candidate improved the selected validation MAE; the baseline therefore remains the preferred model.</a:t>
            </a:r>
          </a:p>
        </p:txBody>
      </p:sp>
    </p:spTree>
    <p:extLst>
      <p:ext uri="{BB962C8B-B14F-4D97-AF65-F5344CB8AC3E}">
        <p14:creationId xmlns:p14="http://schemas.microsoft.com/office/powerpoint/2010/main" val="1178202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A478-6B09-4F3F-9A12-48FF232C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Prediction Results and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299C-102E-478A-960B-5ADAAE79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784F-57E9-4F9A-BC23-19089DA8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325ED97-302C-409E-BDAB-8F8977D929F6}"/>
              </a:ext>
            </a:extLst>
          </p:cNvPr>
          <p:cNvGraphicFramePr/>
          <p:nvPr/>
        </p:nvGraphicFramePr>
        <p:xfrm>
          <a:off xmlns:a="http://schemas.openxmlformats.org/drawingml/2006/main" x="381000" y="1162050"/>
          <a:ext xmlns:a="http://schemas.openxmlformats.org/drawingml/2006/main" cx="5524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517fb68a4c418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1450284-989E-490E-B4A1-7416A207B4E6}"/>
              </a:ext>
            </a:extLst>
          </p:cNvPr>
          <p:cNvGraphicFramePr/>
          <p:nvPr/>
        </p:nvGraphicFramePr>
        <p:xfrm>
          <a:off xmlns:a="http://schemas.openxmlformats.org/drawingml/2006/main" x="6191250" y="11620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8facd8f662497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809E-A145-418A-BDA7-FD0A3B21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Focus market: Amrawati(Frui &amp; Veg. Market)</a:t>
            </a:r>
          </a:p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Test range: 2025-06-08 to 2025-10-30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B3CF-4176-4A74-9624-03CABA4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Mean bias: -1.2 INR/q</a:t>
            </a:r>
          </a:p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Median absolute error: 50.0 INR/q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CA8ED-7464-42DC-BA6A-89D1CC59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Residual convention: predicted price minus actual price. Positive bias indicates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874485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7A85-1DE9-442B-B859-7772E01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Application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C2CE3-36F2-4677-BD1F-7D8BE5B8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3B3FE-8AFC-4B0D-84E8-34FC790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EC280-D817-4F03-A601-7E77DEE36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c3e71b4f543b4"/>
          <a:stretch xmlns:a="http://schemas.openxmlformats.org/drawingml/2006/main"/>
        </p:blipFill>
        <p:spPr>
          <a:xfrm xmlns:a="http://schemas.openxmlformats.org/drawingml/2006/main">
            <a:off x="784860" y="119062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3B9B9-E965-4F37-93E0-5756898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95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Saved forecast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07981-15C0-44B2-8475-BE01158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</a:t>
            </a:r>
          </a:p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Ahmednagar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9F9A3-AB3E-4987-A78D-B87795D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Last observation</a:t>
            </a:r>
          </a:p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2025-10-27 | INR 1150/q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EC3F9-A352-4EBE-9736-2B08AC16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Next-report forecast</a:t>
            </a:r>
          </a:p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INR 1150/q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2B1B-D0E0-4210-8B8A-9132793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Model: M0 Persistence</a:t>
            </a:r>
          </a:p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Held-out MAE: 101.4 INR/q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4BB9F-D0AD-40DE-A503-B7F14149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The dashboard also retains Overview, India Map, Market Influence, Weather and Crunch, Geography, Data Quality and Research Status views.</a:t>
            </a:r>
          </a:p>
        </p:txBody>
      </p:sp>
    </p:spTree>
    <p:extLst>
      <p:ext uri="{BB962C8B-B14F-4D97-AF65-F5344CB8AC3E}">
        <p14:creationId xmlns:p14="http://schemas.microsoft.com/office/powerpoint/2010/main" val="979150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A8EF8-E8D1-4171-AD27-B9B38FC8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Challenges, Solutions and Drawbacks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2AA00-3C5F-4E7C-9C9E-37D342F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E8AFA-0AB1-4E95-992B-F6F649F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9BDF5-2624-446B-8E3C-4D80272610DA}"/>
              </a:ext>
            </a:extLst>
          </p:cNvPr>
          <p:cNvGraphicFramePr/>
          <p:nvPr/>
        </p:nvGraphicFramePr>
        <p:xfrm>
          <a:off xmlns:a="http://schemas.openxmlformats.org/drawingml/2006/main" x="552450" y="1143000"/>
          <a:ext xmlns:a="http://schemas.openxmlformats.org/drawingml/2006/main" cx="110871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229600"/>
              </a:tblGrid>
              <a:tr h="539750">
                <a:tc>
                  <a:txBody>
                    <a:bodyPr/>
                    <a:lstStyle/>
                    <a:p>
                      <a:r>
                        <a:t>Challenge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Implemented response or remaining limitation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Uneven reporting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Define horizon as next reported observation; never fill missing dates as prices.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Restricted acquisition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Train and run offline from traceable local CEDA checkpoints.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Limited geography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State four-district Maharashtra scope; avoid national performance claims.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Temporal leakage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Group by market, shift every rolling feature and split on global target dates.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Use constrained trees, a common cohort and validation-only selection.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Historical staleness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Display the last observation and 2025-10-30 data cutoff.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No exogenous variables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Keep the first model price-only; arrivals units remain uncertain.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Model drawback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Persistence cannot anticipate shocks or turning points, despite winning validation MAE.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049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6292-E13B-48DF-A7DA-962638B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2211-CCFC-4DB1-8593-1F8B4F9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52572-8C38-48A1-A7D8-113D8FDD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7E1C4-796E-4F45-BD46-17263219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What the project achieved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E0801-B6D1-493B-A53F-F8F414C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Preserved the existing market-analysis dashboard.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Evaluated six forecasting approaches with ten metrics.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Selected M0 Persistence using validation MAE of 128.2 INR/q.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Measured held-out MAE of 101.4 INR/q and RMSE of 181.0 INR/q.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Delivered saved next-report forecasts and reproducible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CEF93-D93F-4973-828B-E087B0C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2F3DE-7D4D-4F83-A687-33F20E6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Broaden market and commodity coverage.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Add verified weather and consistently measured arrivals.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Collect a longer historical series and refresh the data.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Evaluate fixed calendar horizons separately.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Revisit tuning only after stronger coverage becomes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FA3EB-A43C-4C21-A09F-AF53638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Measured improvement versus persistence: 0.0%</a:t>
            </a:r>
          </a:p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The baseline won, so no unsupported ML advantage is claimed.</a:t>
            </a:r>
          </a:p>
        </p:txBody>
      </p:sp>
    </p:spTree>
    <p:extLst>
      <p:ext uri="{BB962C8B-B14F-4D97-AF65-F5344CB8AC3E}">
        <p14:creationId xmlns:p14="http://schemas.microsoft.com/office/powerpoint/2010/main" val="21197796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46EB-5997-4692-A587-8BB2677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1B2F3-C937-42A9-B754-4EC442F1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8D293-CE79-4B90-9487-49E5652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586D-A412-4326-A775-43DEF06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CEDA Agri Market Data documentation: https://api.ceda.ashoka.edu.in/documentation/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Government of India AGMARKNET / OGD resource: https://data.gov.in/resource/current-daily-price-various-commodities-various-markets-mandi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AgriFlow repository documentation: README.md; docs/04_DATA_SPECIFICATION.md; docs/05_ANALYTICS_SPECIFICATION.md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scikit-learn documentation: https://scikit-learn.org/stable/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pandas documentation: https://pandas.pydata.org/docs/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NumPy documentation: https://numpy.org/doc/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Dash documentation: https://dash.plotly.com/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Plotly Python documentation: https://plotly.com/python/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Hyndman and Athanasopoulos, Forecasting: Principles and Practice, https://otexts.com/fpp3/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F1246-B234-483B-A1C1-1741CE0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All experimental values in this deck originate from the saved local dataset and generated forecasting artifacts.</a:t>
            </a:r>
          </a:p>
        </p:txBody>
      </p:sp>
    </p:spTree>
    <p:extLst>
      <p:ext uri="{BB962C8B-B14F-4D97-AF65-F5344CB8AC3E}">
        <p14:creationId xmlns:p14="http://schemas.microsoft.com/office/powerpoint/2010/main" val="1196275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2026-10-13T13:19:12.3100000Z</dcterms:created>
  <dcterms:modified xsi:type="dcterms:W3CDTF">2026-10-13T13:19:12.3100000Z</dcterms:modified>
</coreProperties>
</file>
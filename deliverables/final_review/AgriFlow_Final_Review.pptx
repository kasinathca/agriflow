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d9b6cde41074e7d" /><Relationship Type="http://schemas.openxmlformats.org/officeDocument/2006/relationships/extended-properties" Target="/docProps/app.xml" Id="Re3e54b4969af4732" /><Relationship Type="http://schemas.openxmlformats.org/officeDocument/2006/relationships/officeDocument" Target="/ppt/presentation.xml" Id="Rd4623c08c7dc493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0e20bfd82cc44b4"/>
  </p:sldMasterIdLst>
  <p:notesMasterIdLst>
    <p:notesMasterId xmlns:r="http://schemas.openxmlformats.org/officeDocument/2006/relationships" r:id="R382c9cd08f174a52"/>
  </p:notesMasterIdLst>
  <p:sldIdLst>
    <p:sldId xmlns:r="http://schemas.openxmlformats.org/officeDocument/2006/relationships" id="256" r:id="R0379efbb34e14a34"/>
    <p:sldId xmlns:r="http://schemas.openxmlformats.org/officeDocument/2006/relationships" id="257" r:id="R7227492a417b4232"/>
    <p:sldId xmlns:r="http://schemas.openxmlformats.org/officeDocument/2006/relationships" id="258" r:id="R5a5a7e961f3049ef"/>
    <p:sldId xmlns:r="http://schemas.openxmlformats.org/officeDocument/2006/relationships" id="259" r:id="Re9022652eb9c47a9"/>
    <p:sldId xmlns:r="http://schemas.openxmlformats.org/officeDocument/2006/relationships" id="260" r:id="R91ae9f07b51842d6"/>
    <p:sldId xmlns:r="http://schemas.openxmlformats.org/officeDocument/2006/relationships" id="261" r:id="R283656a28a1a4305"/>
    <p:sldId xmlns:r="http://schemas.openxmlformats.org/officeDocument/2006/relationships" id="262" r:id="R0cd2d50208834e57"/>
    <p:sldId xmlns:r="http://schemas.openxmlformats.org/officeDocument/2006/relationships" id="263" r:id="R733c44dd279c45ca"/>
    <p:sldId xmlns:r="http://schemas.openxmlformats.org/officeDocument/2006/relationships" id="264" r:id="R0fdb94b19e3544f7"/>
    <p:sldId xmlns:r="http://schemas.openxmlformats.org/officeDocument/2006/relationships" id="265" r:id="R0c6a9dc3d83c447d"/>
    <p:sldId xmlns:r="http://schemas.openxmlformats.org/officeDocument/2006/relationships" id="266" r:id="R3240551c830e498d"/>
    <p:sldId xmlns:r="http://schemas.openxmlformats.org/officeDocument/2006/relationships" id="267" r:id="Rcf032dda2f8447c9"/>
    <p:sldId xmlns:r="http://schemas.openxmlformats.org/officeDocument/2006/relationships" id="268" r:id="R31bab6b5ab7f48d7"/>
    <p:sldId xmlns:r="http://schemas.openxmlformats.org/officeDocument/2006/relationships" id="269" r:id="Re68fbd0e30524f1b"/>
    <p:sldId xmlns:r="http://schemas.openxmlformats.org/officeDocument/2006/relationships" id="270" r:id="Rbf4bc96835af402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6c0026ff1cc4f12" /><Relationship Type="http://schemas.openxmlformats.org/officeDocument/2006/relationships/slideMaster" Target="/ppt/slideMasters/slideMaster1.xml" Id="R40e20bfd82cc44b4" /><Relationship Type="http://schemas.openxmlformats.org/officeDocument/2006/relationships/notesMaster" Target="/ppt/notesMasters/notesMaster1.xml" Id="R382c9cd08f174a52" /><Relationship Type="http://schemas.openxmlformats.org/officeDocument/2006/relationships/presProps" Target="/ppt/presProps.xml" Id="R787e0c781aa6449c" /><Relationship Type="http://schemas.openxmlformats.org/officeDocument/2006/relationships/tableStyles" Target="/ppt/tableStyles.xml" Id="R6b8454c399f74dec" /><Relationship Type="http://schemas.openxmlformats.org/officeDocument/2006/relationships/slide" Target="/ppt/slides/slide1.xml" Id="R0379efbb34e14a34" /><Relationship Type="http://schemas.openxmlformats.org/officeDocument/2006/relationships/slide" Target="/ppt/slides/slide2.xml" Id="R7227492a417b4232" /><Relationship Type="http://schemas.openxmlformats.org/officeDocument/2006/relationships/slide" Target="/ppt/slides/slide3.xml" Id="R5a5a7e961f3049ef" /><Relationship Type="http://schemas.openxmlformats.org/officeDocument/2006/relationships/slide" Target="/ppt/slides/slide4.xml" Id="Re9022652eb9c47a9" /><Relationship Type="http://schemas.openxmlformats.org/officeDocument/2006/relationships/slide" Target="/ppt/slides/slide5.xml" Id="R91ae9f07b51842d6" /><Relationship Type="http://schemas.openxmlformats.org/officeDocument/2006/relationships/slide" Target="/ppt/slides/slide6.xml" Id="R283656a28a1a4305" /><Relationship Type="http://schemas.openxmlformats.org/officeDocument/2006/relationships/slide" Target="/ppt/slides/slide7.xml" Id="R0cd2d50208834e57" /><Relationship Type="http://schemas.openxmlformats.org/officeDocument/2006/relationships/slide" Target="/ppt/slides/slide8.xml" Id="R733c44dd279c45ca" /><Relationship Type="http://schemas.openxmlformats.org/officeDocument/2006/relationships/slide" Target="/ppt/slides/slide9.xml" Id="R0fdb94b19e3544f7" /><Relationship Type="http://schemas.openxmlformats.org/officeDocument/2006/relationships/slide" Target="/ppt/slides/slide10.xml" Id="R0c6a9dc3d83c447d" /><Relationship Type="http://schemas.openxmlformats.org/officeDocument/2006/relationships/slide" Target="/ppt/slides/slide11.xml" Id="R3240551c830e498d" /><Relationship Type="http://schemas.openxmlformats.org/officeDocument/2006/relationships/slide" Target="/ppt/slides/slide12.xml" Id="Rcf032dda2f8447c9" /><Relationship Type="http://schemas.openxmlformats.org/officeDocument/2006/relationships/slide" Target="/ppt/slides/slide13.xml" Id="R31bab6b5ab7f48d7" /><Relationship Type="http://schemas.openxmlformats.org/officeDocument/2006/relationships/slide" Target="/ppt/slides/slide14.xml" Id="Re68fbd0e30524f1b" /><Relationship Type="http://schemas.openxmlformats.org/officeDocument/2006/relationships/slide" Target="/ppt/slides/slide15.xml" Id="Rbf4bc96835af402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b3dd285c7934e0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f4022deea4f47e7" /><Relationship Type="http://schemas.openxmlformats.org/officeDocument/2006/relationships/notesMaster" Target="/ppt/notesMasters/notesMaster1.xml" Id="R68bd2f9f48df444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3e42a8c1d674fbd" /><Relationship Type="http://schemas.openxmlformats.org/officeDocument/2006/relationships/notesMaster" Target="/ppt/notesMasters/notesMaster1.xml" Id="R09e457c2e889478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97a678c51854957" /><Relationship Type="http://schemas.openxmlformats.org/officeDocument/2006/relationships/notesMaster" Target="/ppt/notesMasters/notesMaster1.xml" Id="R1ff88200c9b4417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853056a36ff4b2b" /><Relationship Type="http://schemas.openxmlformats.org/officeDocument/2006/relationships/notesMaster" Target="/ppt/notesMasters/notesMaster1.xml" Id="R3a226dfafffc4f5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b5ae4c1b2cf4fc3" /><Relationship Type="http://schemas.openxmlformats.org/officeDocument/2006/relationships/notesMaster" Target="/ppt/notesMasters/notesMaster1.xml" Id="Re450a64dc0c4402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b35cae16f6a4c32" /><Relationship Type="http://schemas.openxmlformats.org/officeDocument/2006/relationships/notesMaster" Target="/ppt/notesMasters/notesMaster1.xml" Id="Rff2bd92d719c4d4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361554acb3e4c19" /><Relationship Type="http://schemas.openxmlformats.org/officeDocument/2006/relationships/notesMaster" Target="/ppt/notesMasters/notesMaster1.xml" Id="R7e86ba3f46eb4d9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0746e3deb644956" /><Relationship Type="http://schemas.openxmlformats.org/officeDocument/2006/relationships/notesMaster" Target="/ppt/notesMasters/notesMaster1.xml" Id="R410dbbe2c90a41d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e08b00b53634853" /><Relationship Type="http://schemas.openxmlformats.org/officeDocument/2006/relationships/notesMaster" Target="/ppt/notesMasters/notesMaster1.xml" Id="R0d82581788e14c0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17d4d9a44294ef9" /><Relationship Type="http://schemas.openxmlformats.org/officeDocument/2006/relationships/notesMaster" Target="/ppt/notesMasters/notesMaster1.xml" Id="R2503656392cf4e0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fc6fc453a52491a" /><Relationship Type="http://schemas.openxmlformats.org/officeDocument/2006/relationships/notesMaster" Target="/ppt/notesMasters/notesMaster1.xml" Id="R7aaac932a12446d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fd1472bcde4436a" /><Relationship Type="http://schemas.openxmlformats.org/officeDocument/2006/relationships/notesMaster" Target="/ppt/notesMasters/notesMaster1.xml" Id="Reac874c8b7884ac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baedb4dbc21428c" /><Relationship Type="http://schemas.openxmlformats.org/officeDocument/2006/relationships/notesMaster" Target="/ppt/notesMasters/notesMaster1.xml" Id="Rc2e423b3d4764a6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6b2becfb11c44ea" /><Relationship Type="http://schemas.openxmlformats.org/officeDocument/2006/relationships/notesMaster" Target="/ppt/notesMasters/notesMaster1.xml" Id="R02143408f98642f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b4f7203acb1410e" /><Relationship Type="http://schemas.openxmlformats.org/officeDocument/2006/relationships/notesMaster" Target="/ppt/notesMasters/notesMaster1.xml" Id="R47cc8f07960644a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3c58cb348644a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cdf1775cdd49b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8e2dcee4a9426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45526a92e3406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a09baf222243d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6092a70cb4419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D728932-5EAD-461C-AA0C-5F8F8ABDE9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779B5BA-7437-47A6-B157-19BCA03A3F4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4BBCCE8-0D9E-488B-867D-07ADBC94DE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59BAED6-E41A-4C8F-BBD1-C9E66544BE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0604214-AEFF-490F-9587-CAF62717029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33897F5-028A-4555-AF7F-C4CEB47C2E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2024EA7-30FB-4C43-B362-F7897E288EC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CD8F75F-1B4B-4C7C-81D5-BAFFBC5DE5B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69C2D88-B600-4E87-BCF2-A2ABAF8672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2AF53F3-AA31-4D44-BC98-5DADA376075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987ed18c295402d" /><Relationship Type="http://schemas.openxmlformats.org/officeDocument/2006/relationships/slideLayout" Target="/ppt/slideLayouts/slideLayout1.xml" Id="Rf8e164acc4e64c79" /><Relationship Type="http://schemas.openxmlformats.org/officeDocument/2006/relationships/slideLayout" Target="/ppt/slideLayouts/slideLayout2.xml" Id="R05d31098480b4010" /><Relationship Type="http://schemas.openxmlformats.org/officeDocument/2006/relationships/slideLayout" Target="/ppt/slideLayouts/slideLayout3.xml" Id="Rb802f75041a64747" /><Relationship Type="http://schemas.openxmlformats.org/officeDocument/2006/relationships/slideLayout" Target="/ppt/slideLayouts/slideLayout4.xml" Id="R7f1841b7cfd144ae" /><Relationship Type="http://schemas.openxmlformats.org/officeDocument/2006/relationships/slideLayout" Target="/ppt/slideLayouts/slideLayout5.xml" Id="Rd113b457f03a417c" /><Relationship Type="http://schemas.openxmlformats.org/officeDocument/2006/relationships/slideLayout" Target="/ppt/slideLayouts/slideLayout6.xml" Id="R1e19e3121370480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8e164acc4e64c79"/>
    <p:sldLayoutId xmlns:r="http://schemas.openxmlformats.org/officeDocument/2006/relationships" id="2147483650" r:id="R05d31098480b4010"/>
    <p:sldLayoutId xmlns:r="http://schemas.openxmlformats.org/officeDocument/2006/relationships" id="2147483651" r:id="Rb802f75041a64747"/>
    <p:sldLayoutId xmlns:r="http://schemas.openxmlformats.org/officeDocument/2006/relationships" id="2147483652" r:id="R7f1841b7cfd144ae"/>
    <p:sldLayoutId xmlns:r="http://schemas.openxmlformats.org/officeDocument/2006/relationships" id="2147483653" r:id="Rd113b457f03a417c"/>
    <p:sldLayoutId xmlns:r="http://schemas.openxmlformats.org/officeDocument/2006/relationships" id="2147483654" r:id="R1e19e3121370480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27e2f8edb84aba" /><Relationship Type="http://schemas.openxmlformats.org/officeDocument/2006/relationships/notesSlide" Target="/ppt/notesSlides/notesSlide1.xml" Id="Rbb04bcea5c1e477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0abd604d334d86" /><Relationship Type="http://schemas.openxmlformats.org/officeDocument/2006/relationships/notesSlide" Target="/ppt/notesSlides/notesSlide2.xml" Id="R7548e194d4f446d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1b1502ba264137" /><Relationship Type="http://schemas.openxmlformats.org/officeDocument/2006/relationships/notesSlide" Target="/ppt/notesSlides/notesSlide3.xml" Id="R9804323f4d084f9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0134a4cb7d48f4" /><Relationship Type="http://schemas.openxmlformats.org/officeDocument/2006/relationships/notesSlide" Target="/ppt/notesSlides/notesSlide4.xml" Id="Rbd6a398b37314a9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b19f3bcdda4938" /><Relationship Type="http://schemas.openxmlformats.org/officeDocument/2006/relationships/chart" Target="/ppt/slides/charts/chart1.xml" Id="R7190704a0746479b" /><Relationship Type="http://schemas.openxmlformats.org/officeDocument/2006/relationships/notesSlide" Target="/ppt/notesSlides/notesSlide5.xml" Id="R180a1e77655a447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79cc42a2304c1a" /><Relationship Type="http://schemas.openxmlformats.org/officeDocument/2006/relationships/chart" Target="/ppt/slides/charts/chart2.xml" Id="R99246bcb4f424bcf" /><Relationship Type="http://schemas.openxmlformats.org/officeDocument/2006/relationships/notesSlide" Target="/ppt/notesSlides/notesSlide6.xml" Id="R5ee74e8c8ec5414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931aa84c794d8b" /><Relationship Type="http://schemas.openxmlformats.org/officeDocument/2006/relationships/notesSlide" Target="/ppt/notesSlides/notesSlide7.xml" Id="Re5cd0dffda1b4a8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1ac9af747f4e5d" /><Relationship Type="http://schemas.openxmlformats.org/officeDocument/2006/relationships/notesSlide" Target="/ppt/notesSlides/notesSlide8.xml" Id="Rfcab9e08471b479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36604ecab64f06" /><Relationship Type="http://schemas.openxmlformats.org/officeDocument/2006/relationships/notesSlide" Target="/ppt/notesSlides/notesSlide9.xml" Id="R40af0572a92942c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429fe50c3d4a4b" /><Relationship Type="http://schemas.openxmlformats.org/officeDocument/2006/relationships/chart" Target="/ppt/slides/charts/chart3.xml" Id="Rfc9fcb93caca4975" /><Relationship Type="http://schemas.openxmlformats.org/officeDocument/2006/relationships/chart" Target="/ppt/slides/charts/chart4.xml" Id="Re9f6eb85f5264e29" /><Relationship Type="http://schemas.openxmlformats.org/officeDocument/2006/relationships/notesSlide" Target="/ppt/notesSlides/notesSlide10.xml" Id="Ra2bd9bdf15bf4df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a3880d8b4247a4" /><Relationship Type="http://schemas.openxmlformats.org/officeDocument/2006/relationships/chart" Target="/ppt/slides/charts/chart5.xml" Id="R1ac04ea989784b36" /><Relationship Type="http://schemas.openxmlformats.org/officeDocument/2006/relationships/chart" Target="/ppt/slides/charts/chart6.xml" Id="R664fa5c82b3943f7" /><Relationship Type="http://schemas.openxmlformats.org/officeDocument/2006/relationships/notesSlide" Target="/ppt/notesSlides/notesSlide11.xml" Id="R5687a7a7e7f2482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29b76b4ca04db5" /><Relationship Type="http://schemas.openxmlformats.org/officeDocument/2006/relationships/image" Target="/ppt/media/image.png" Id="R6022e52ddad4439b" /><Relationship Type="http://schemas.openxmlformats.org/officeDocument/2006/relationships/notesSlide" Target="/ppt/notesSlides/notesSlide12.xml" Id="R8b19a8461eb940e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c9937dfe744f90" /><Relationship Type="http://schemas.openxmlformats.org/officeDocument/2006/relationships/notesSlide" Target="/ppt/notesSlides/notesSlide13.xml" Id="R8f7eeab6296249b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a1bcc8cc8b4b64" /><Relationship Type="http://schemas.openxmlformats.org/officeDocument/2006/relationships/notesSlide" Target="/ppt/notesSlides/notesSlide14.xml" Id="R38fe9cf4425e46e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65920bba394f53" /><Relationship Type="http://schemas.openxmlformats.org/officeDocument/2006/relationships/notesSlide" Target="/ppt/notesSlides/notesSlide15.xml" Id="R8c2c7343b0fe4d2f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Market-day observations</c:v>
          </c:tx>
          <c:spPr>
            <a:solidFill xmlns:a="http://schemas.openxmlformats.org/drawingml/2006/main">
              <a:srgbClr val="2F6B4F"/>
            </a:solidFill>
          </c:spPr>
          <c:invertIfNegative val="0"/>
          <c:cat>
            <c:strLit>
              <c:ptCount val="10"/>
              <c:pt idx="0">
                <c:v>Amrawati(Frui &amp; Veg. Market)</c:v>
              </c:pt>
              <c:pt idx="1">
                <c:v>Sangamner</c:v>
              </c:pt>
              <c:pt idx="2">
                <c:v>Akola</c:v>
              </c:pt>
              <c:pt idx="3">
                <c:v>Kopargaon</c:v>
              </c:pt>
              <c:pt idx="4">
                <c:v>Rahuri(Vambori)</c:v>
              </c:pt>
              <c:pt idx="5">
                <c:v>Parner</c:v>
              </c:pt>
              <c:pt idx="6">
                <c:v>Rahata</c:v>
              </c:pt>
              <c:pt idx="7">
                <c:v>Newasa(Ghodegaon)</c:v>
              </c:pt>
              <c:pt idx="8">
                <c:v>Karjat</c:v>
              </c:pt>
              <c:pt idx="9">
                <c:v>Rahuri</c:v>
              </c:pt>
            </c:strLit>
          </c:cat>
          <c:val>
            <c:numLit>
              <c:formatCode>General</c:formatCode>
              <c:ptCount val="10"/>
              <c:pt idx="0">
                <c:v>747</c:v>
              </c:pt>
              <c:pt idx="1">
                <c:v>628</c:v>
              </c:pt>
              <c:pt idx="2">
                <c:v>620</c:v>
              </c:pt>
              <c:pt idx="3">
                <c:v>614</c:v>
              </c:pt>
              <c:pt idx="4">
                <c:v>376</c:v>
              </c:pt>
              <c:pt idx="5">
                <c:v>367</c:v>
              </c:pt>
              <c:pt idx="6">
                <c:v>357</c:v>
              </c:pt>
              <c:pt idx="7">
                <c:v>352</c:v>
              </c:pt>
              <c:pt idx="8">
                <c:v>323</c:v>
              </c:pt>
              <c:pt idx="9">
                <c:v>318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EE6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Times New Roman"/>
                    <a:ea typeface="Times New Roman"/>
                    <a:cs typeface="Times New Roman"/>
                  </a:rPr>
                  <a:t>Processed observations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Monthly median modal price</c:v>
          </c:tx>
          <c:spPr>
            <a:ln xmlns:a="http://schemas.openxmlformats.org/drawingml/2006/main" w="28575">
              <a:solidFill>
                <a:srgbClr val="2F6B4F"/>
              </a:solidFill>
              <a:prstDash val="solid"/>
            </a:ln>
          </c:spPr>
          <c:marker>
            <c:symbol val="none"/>
          </c:marker>
          <c:cat>
            <c:strLit>
              <c:ptCount val="33"/>
              <c:pt idx="0">
                <c:v>2023-01</c:v>
              </c:pt>
              <c:pt idx="1">
                <c:v>2023-02</c:v>
              </c:pt>
              <c:pt idx="2">
                <c:v>2023-03</c:v>
              </c:pt>
              <c:pt idx="3">
                <c:v>2023-04</c:v>
              </c:pt>
              <c:pt idx="4">
                <c:v>2023-05</c:v>
              </c:pt>
              <c:pt idx="5">
                <c:v>2023-06</c:v>
              </c:pt>
              <c:pt idx="6">
                <c:v>2023-07</c:v>
              </c:pt>
              <c:pt idx="7">
                <c:v>2023-08</c:v>
              </c:pt>
              <c:pt idx="8">
                <c:v>2023-09</c:v>
              </c:pt>
              <c:pt idx="9">
                <c:v>2023-10</c:v>
              </c:pt>
              <c:pt idx="10">
                <c:v>2023-11</c:v>
              </c:pt>
              <c:pt idx="11">
                <c:v>2024-01</c:v>
              </c:pt>
              <c:pt idx="12">
                <c:v>2024-02</c:v>
              </c:pt>
              <c:pt idx="13">
                <c:v>2024-03</c:v>
              </c:pt>
              <c:pt idx="14">
                <c:v>2024-04</c:v>
              </c:pt>
              <c:pt idx="15">
                <c:v>2024-05</c:v>
              </c:pt>
              <c:pt idx="16">
                <c:v>2024-06</c:v>
              </c:pt>
              <c:pt idx="17">
                <c:v>2024-07</c:v>
              </c:pt>
              <c:pt idx="18">
                <c:v>2024-08</c:v>
              </c:pt>
              <c:pt idx="19">
                <c:v>2024-09</c:v>
              </c:pt>
              <c:pt idx="20">
                <c:v>2024-10</c:v>
              </c:pt>
              <c:pt idx="21">
                <c:v>2024-11</c:v>
              </c:pt>
              <c:pt idx="22">
                <c:v>2024-12</c:v>
              </c:pt>
              <c:pt idx="23">
                <c:v>2025-01</c:v>
              </c:pt>
              <c:pt idx="24">
                <c:v>2025-02</c:v>
              </c:pt>
              <c:pt idx="25">
                <c:v>2025-03</c:v>
              </c:pt>
              <c:pt idx="26">
                <c:v>2025-04</c:v>
              </c:pt>
              <c:pt idx="27">
                <c:v>2025-05</c:v>
              </c:pt>
              <c:pt idx="28">
                <c:v>2025-06</c:v>
              </c:pt>
              <c:pt idx="29">
                <c:v>2025-07</c:v>
              </c:pt>
              <c:pt idx="30">
                <c:v>2025-08</c:v>
              </c:pt>
              <c:pt idx="31">
                <c:v>2025-09</c:v>
              </c:pt>
              <c:pt idx="32">
                <c:v>2025-10</c:v>
              </c:pt>
            </c:strLit>
          </c:cat>
          <c:val>
            <c:numLit>
              <c:formatCode>General</c:formatCode>
              <c:ptCount val="33"/>
              <c:pt idx="0">
                <c:v>1175</c:v>
              </c:pt>
              <c:pt idx="1">
                <c:v>787.5</c:v>
              </c:pt>
              <c:pt idx="2">
                <c:v>700</c:v>
              </c:pt>
              <c:pt idx="3">
                <c:v>600</c:v>
              </c:pt>
              <c:pt idx="4">
                <c:v>600</c:v>
              </c:pt>
              <c:pt idx="5">
                <c:v>800</c:v>
              </c:pt>
              <c:pt idx="6">
                <c:v>1200</c:v>
              </c:pt>
              <c:pt idx="7">
                <c:v>1600</c:v>
              </c:pt>
              <c:pt idx="8">
                <c:v>1800</c:v>
              </c:pt>
              <c:pt idx="9">
                <c:v>2500</c:v>
              </c:pt>
              <c:pt idx="10">
                <c:v>3250</c:v>
              </c:pt>
              <c:pt idx="11">
                <c:v>1300</c:v>
              </c:pt>
              <c:pt idx="12">
                <c:v>1175</c:v>
              </c:pt>
              <c:pt idx="13">
                <c:v>1200</c:v>
              </c:pt>
              <c:pt idx="14">
                <c:v>1150</c:v>
              </c:pt>
              <c:pt idx="15">
                <c:v>1200</c:v>
              </c:pt>
              <c:pt idx="16">
                <c:v>2100</c:v>
              </c:pt>
              <c:pt idx="17">
                <c:v>2500</c:v>
              </c:pt>
              <c:pt idx="18">
                <c:v>3000</c:v>
              </c:pt>
              <c:pt idx="19">
                <c:v>3650</c:v>
              </c:pt>
              <c:pt idx="20">
                <c:v>3200</c:v>
              </c:pt>
              <c:pt idx="21">
                <c:v>3350</c:v>
              </c:pt>
              <c:pt idx="22">
                <c:v>3000</c:v>
              </c:pt>
              <c:pt idx="23">
                <c:v>2000</c:v>
              </c:pt>
              <c:pt idx="24">
                <c:v>2000</c:v>
              </c:pt>
              <c:pt idx="25">
                <c:v>1300</c:v>
              </c:pt>
              <c:pt idx="26">
                <c:v>987.5</c:v>
              </c:pt>
              <c:pt idx="27">
                <c:v>925</c:v>
              </c:pt>
              <c:pt idx="28">
                <c:v>1218.5</c:v>
              </c:pt>
              <c:pt idx="29">
                <c:v>1200</c:v>
              </c:pt>
              <c:pt idx="30">
                <c:v>1200</c:v>
              </c:pt>
              <c:pt idx="31">
                <c:v>1000</c:v>
              </c:pt>
              <c:pt idx="32">
                <c:v>1002.5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Times New Roman"/>
                    <a:ea typeface="Times New Roman"/>
                    <a:cs typeface="Times New Roman"/>
                  </a:rPr>
                  <a:t>Month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  <c:lblOffset val="75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EE6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Times New Roman"/>
                    <a:ea typeface="Times New Roman"/>
                    <a:cs typeface="Times New Roman"/>
                  </a:rPr>
                  <a:t>INR per quintal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Test MAE</c:v>
          </c:tx>
          <c:spPr>
            <a:solidFill xmlns:a="http://schemas.openxmlformats.org/drawingml/2006/main">
              <a:srgbClr val="2F6B4F"/>
            </a:solidFill>
          </c:spPr>
          <c:invertIfNegative val="0"/>
          <c:cat>
            <c:strLit>
              <c:ptCount val="6"/>
              <c:pt idx="0">
                <c:v>M0 Persistence</c:v>
              </c:pt>
              <c:pt idx="1">
                <c:v>M4 Random Forest</c:v>
              </c:pt>
              <c:pt idx="2">
                <c:v>M5 Hist GB</c:v>
              </c:pt>
              <c:pt idx="3">
                <c:v>M3 Decision Tree</c:v>
              </c:pt>
              <c:pt idx="4">
                <c:v>M2 Ridge</c:v>
              </c:pt>
              <c:pt idx="5">
                <c:v>M1 Lag-7</c:v>
              </c:pt>
            </c:strLit>
          </c:cat>
          <c:val>
            <c:numLit>
              <c:formatCode>General</c:formatCode>
              <c:ptCount val="6"/>
              <c:pt idx="0">
                <c:v>101.39794967381174</c:v>
              </c:pt>
              <c:pt idx="1">
                <c:v>108.1444222949907</c:v>
              </c:pt>
              <c:pt idx="2">
                <c:v>108.73422409530747</c:v>
              </c:pt>
              <c:pt idx="3">
                <c:v>111.80112996820695</c:v>
              </c:pt>
              <c:pt idx="4">
                <c:v>112.47933345007249</c:v>
              </c:pt>
              <c:pt idx="5">
                <c:v>172.80055917986954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EE6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Times New Roman"/>
                    <a:ea typeface="Times New Roman"/>
                    <a:cs typeface="Times New Roman"/>
                  </a:rPr>
                  <a:t>MAE (INR/q)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Test RMSE</c:v>
          </c:tx>
          <c:spPr>
            <a:solidFill xmlns:a="http://schemas.openxmlformats.org/drawingml/2006/main">
              <a:srgbClr val="17365D"/>
            </a:solidFill>
          </c:spPr>
          <c:invertIfNegative val="0"/>
          <c:cat>
            <c:strLit>
              <c:ptCount val="6"/>
              <c:pt idx="0">
                <c:v>M0 Persistence</c:v>
              </c:pt>
              <c:pt idx="1">
                <c:v>M4 Random Forest</c:v>
              </c:pt>
              <c:pt idx="2">
                <c:v>M5 Hist GB</c:v>
              </c:pt>
              <c:pt idx="3">
                <c:v>M3 Decision Tree</c:v>
              </c:pt>
              <c:pt idx="4">
                <c:v>M2 Ridge</c:v>
              </c:pt>
              <c:pt idx="5">
                <c:v>M1 Lag-7</c:v>
              </c:pt>
            </c:strLit>
          </c:cat>
          <c:val>
            <c:numLit>
              <c:formatCode>General</c:formatCode>
              <c:ptCount val="6"/>
              <c:pt idx="0">
                <c:v>180.9732413167576</c:v>
              </c:pt>
              <c:pt idx="1">
                <c:v>174.14094933403862</c:v>
              </c:pt>
              <c:pt idx="2">
                <c:v>171.2992340218687</c:v>
              </c:pt>
              <c:pt idx="3">
                <c:v>182.32319425874104</c:v>
              </c:pt>
              <c:pt idx="4">
                <c:v>165.8434318246821</c:v>
              </c:pt>
              <c:pt idx="5">
                <c:v>242.20293148234052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EE6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Times New Roman"/>
                    <a:ea typeface="Times New Roman"/>
                    <a:cs typeface="Times New Roman"/>
                  </a:rPr>
                  <a:t>RMSE (INR/q)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5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Actual</c:v>
          </c:tx>
          <c:spPr>
            <a:ln xmlns:a="http://schemas.openxmlformats.org/drawingml/2006/main" w="19050">
              <a:solidFill>
                <a:srgbClr val="17365D"/>
              </a:solidFill>
              <a:prstDash val="solid"/>
            </a:ln>
          </c:spPr>
          <c:marker>
            <c:symbol val="none"/>
          </c:marker>
          <c:cat>
            <c:strLit>
              <c:ptCount val="108"/>
              <c:pt idx="0">
                <c:v>06-08</c:v>
              </c:pt>
              <c:pt idx="1">
                <c:v>06-09</c:v>
              </c:pt>
              <c:pt idx="2">
                <c:v>06-10</c:v>
              </c:pt>
              <c:pt idx="3">
                <c:v>06-11</c:v>
              </c:pt>
              <c:pt idx="4">
                <c:v>06-13</c:v>
              </c:pt>
              <c:pt idx="5">
                <c:v>06-14</c:v>
              </c:pt>
              <c:pt idx="6">
                <c:v>06-15</c:v>
              </c:pt>
              <c:pt idx="7">
                <c:v>06-16</c:v>
              </c:pt>
              <c:pt idx="8">
                <c:v>06-17</c:v>
              </c:pt>
              <c:pt idx="9">
                <c:v>06-18</c:v>
              </c:pt>
              <c:pt idx="10">
                <c:v>06-20</c:v>
              </c:pt>
              <c:pt idx="11">
                <c:v>06-21</c:v>
              </c:pt>
              <c:pt idx="12">
                <c:v>06-22</c:v>
              </c:pt>
              <c:pt idx="13">
                <c:v>06-23</c:v>
              </c:pt>
              <c:pt idx="14">
                <c:v>06-24</c:v>
              </c:pt>
              <c:pt idx="15">
                <c:v>06-25</c:v>
              </c:pt>
              <c:pt idx="16">
                <c:v>06-27</c:v>
              </c:pt>
              <c:pt idx="17">
                <c:v>06-28</c:v>
              </c:pt>
              <c:pt idx="18">
                <c:v>06-29</c:v>
              </c:pt>
              <c:pt idx="19">
                <c:v>06-30</c:v>
              </c:pt>
              <c:pt idx="20">
                <c:v>07-01</c:v>
              </c:pt>
              <c:pt idx="21">
                <c:v>07-04</c:v>
              </c:pt>
              <c:pt idx="22">
                <c:v>07-05</c:v>
              </c:pt>
              <c:pt idx="23">
                <c:v>07-06</c:v>
              </c:pt>
              <c:pt idx="24">
                <c:v>07-07</c:v>
              </c:pt>
              <c:pt idx="25">
                <c:v>07-08</c:v>
              </c:pt>
              <c:pt idx="26">
                <c:v>07-09</c:v>
              </c:pt>
              <c:pt idx="27">
                <c:v>07-11</c:v>
              </c:pt>
              <c:pt idx="28">
                <c:v>07-12</c:v>
              </c:pt>
              <c:pt idx="29">
                <c:v>07-13</c:v>
              </c:pt>
              <c:pt idx="30">
                <c:v>07-14</c:v>
              </c:pt>
              <c:pt idx="31">
                <c:v>07-15</c:v>
              </c:pt>
              <c:pt idx="32">
                <c:v>07-16</c:v>
              </c:pt>
              <c:pt idx="33">
                <c:v>07-18</c:v>
              </c:pt>
              <c:pt idx="34">
                <c:v>07-19</c:v>
              </c:pt>
              <c:pt idx="35">
                <c:v>07-21</c:v>
              </c:pt>
              <c:pt idx="36">
                <c:v>07-22</c:v>
              </c:pt>
              <c:pt idx="37">
                <c:v>07-23</c:v>
              </c:pt>
              <c:pt idx="38">
                <c:v>07-27</c:v>
              </c:pt>
              <c:pt idx="39">
                <c:v>07-28</c:v>
              </c:pt>
              <c:pt idx="40">
                <c:v>07-29</c:v>
              </c:pt>
              <c:pt idx="41">
                <c:v>07-30</c:v>
              </c:pt>
              <c:pt idx="42">
                <c:v>08-01</c:v>
              </c:pt>
              <c:pt idx="43">
                <c:v>08-02</c:v>
              </c:pt>
              <c:pt idx="44">
                <c:v>08-03</c:v>
              </c:pt>
              <c:pt idx="45">
                <c:v>08-04</c:v>
              </c:pt>
              <c:pt idx="46">
                <c:v>08-05</c:v>
              </c:pt>
              <c:pt idx="47">
                <c:v>08-06</c:v>
              </c:pt>
              <c:pt idx="48">
                <c:v>08-08</c:v>
              </c:pt>
              <c:pt idx="49">
                <c:v>08-10</c:v>
              </c:pt>
              <c:pt idx="50">
                <c:v>08-11</c:v>
              </c:pt>
              <c:pt idx="51">
                <c:v>08-12</c:v>
              </c:pt>
              <c:pt idx="52">
                <c:v>08-13</c:v>
              </c:pt>
              <c:pt idx="53">
                <c:v>08-16</c:v>
              </c:pt>
              <c:pt idx="54">
                <c:v>08-17</c:v>
              </c:pt>
              <c:pt idx="55">
                <c:v>08-18</c:v>
              </c:pt>
              <c:pt idx="56">
                <c:v>08-19</c:v>
              </c:pt>
              <c:pt idx="57">
                <c:v>08-20</c:v>
              </c:pt>
              <c:pt idx="58">
                <c:v>08-22</c:v>
              </c:pt>
              <c:pt idx="59">
                <c:v>08-23</c:v>
              </c:pt>
              <c:pt idx="60">
                <c:v>08-24</c:v>
              </c:pt>
              <c:pt idx="61">
                <c:v>08-25</c:v>
              </c:pt>
              <c:pt idx="62">
                <c:v>08-26</c:v>
              </c:pt>
              <c:pt idx="63">
                <c:v>08-27</c:v>
              </c:pt>
              <c:pt idx="64">
                <c:v>08-29</c:v>
              </c:pt>
              <c:pt idx="65">
                <c:v>08-30</c:v>
              </c:pt>
              <c:pt idx="66">
                <c:v>09-01</c:v>
              </c:pt>
              <c:pt idx="67">
                <c:v>09-02</c:v>
              </c:pt>
              <c:pt idx="68">
                <c:v>09-03</c:v>
              </c:pt>
              <c:pt idx="69">
                <c:v>09-05</c:v>
              </c:pt>
              <c:pt idx="70">
                <c:v>09-06</c:v>
              </c:pt>
              <c:pt idx="71">
                <c:v>09-07</c:v>
              </c:pt>
              <c:pt idx="72">
                <c:v>09-08</c:v>
              </c:pt>
              <c:pt idx="73">
                <c:v>09-09</c:v>
              </c:pt>
              <c:pt idx="74">
                <c:v>09-10</c:v>
              </c:pt>
              <c:pt idx="75">
                <c:v>09-12</c:v>
              </c:pt>
              <c:pt idx="76">
                <c:v>09-13</c:v>
              </c:pt>
              <c:pt idx="77">
                <c:v>09-14</c:v>
              </c:pt>
              <c:pt idx="78">
                <c:v>09-15</c:v>
              </c:pt>
              <c:pt idx="79">
                <c:v>09-16</c:v>
              </c:pt>
              <c:pt idx="80">
                <c:v>09-17</c:v>
              </c:pt>
              <c:pt idx="81">
                <c:v>09-19</c:v>
              </c:pt>
              <c:pt idx="82">
                <c:v>09-20</c:v>
              </c:pt>
              <c:pt idx="83">
                <c:v>09-21</c:v>
              </c:pt>
              <c:pt idx="84">
                <c:v>09-22</c:v>
              </c:pt>
              <c:pt idx="85">
                <c:v>09-23</c:v>
              </c:pt>
              <c:pt idx="86">
                <c:v>09-24</c:v>
              </c:pt>
              <c:pt idx="87">
                <c:v>09-26</c:v>
              </c:pt>
              <c:pt idx="88">
                <c:v>09-27</c:v>
              </c:pt>
              <c:pt idx="89">
                <c:v>09-28</c:v>
              </c:pt>
              <c:pt idx="90">
                <c:v>09-29</c:v>
              </c:pt>
              <c:pt idx="91">
                <c:v>09-30</c:v>
              </c:pt>
              <c:pt idx="92">
                <c:v>10-01</c:v>
              </c:pt>
              <c:pt idx="93">
                <c:v>10-03</c:v>
              </c:pt>
              <c:pt idx="94">
                <c:v>10-04</c:v>
              </c:pt>
              <c:pt idx="95">
                <c:v>10-06</c:v>
              </c:pt>
              <c:pt idx="96">
                <c:v>10-07</c:v>
              </c:pt>
              <c:pt idx="97">
                <c:v>10-08</c:v>
              </c:pt>
              <c:pt idx="98">
                <c:v>10-12</c:v>
              </c:pt>
              <c:pt idx="99">
                <c:v>10-13</c:v>
              </c:pt>
              <c:pt idx="100">
                <c:v>10-14</c:v>
              </c:pt>
              <c:pt idx="101">
                <c:v>10-15</c:v>
              </c:pt>
              <c:pt idx="102">
                <c:v>10-17</c:v>
              </c:pt>
              <c:pt idx="103">
                <c:v>10-18</c:v>
              </c:pt>
              <c:pt idx="104">
                <c:v>10-26</c:v>
              </c:pt>
              <c:pt idx="105">
                <c:v>10-27</c:v>
              </c:pt>
              <c:pt idx="106">
                <c:v>10-28</c:v>
              </c:pt>
              <c:pt idx="107">
                <c:v>10-29</c:v>
              </c:pt>
            </c:strLit>
          </c:cat>
          <c:val>
            <c:numLit>
              <c:formatCode>General</c:formatCode>
              <c:ptCount val="108"/>
              <c:pt idx="0">
                <c:v>1250</c:v>
              </c:pt>
              <c:pt idx="1">
                <c:v>1350</c:v>
              </c:pt>
              <c:pt idx="2">
                <c:v>1250</c:v>
              </c:pt>
              <c:pt idx="3">
                <c:v>1400</c:v>
              </c:pt>
              <c:pt idx="4">
                <c:v>1400</c:v>
              </c:pt>
              <c:pt idx="5">
                <c:v>1400</c:v>
              </c:pt>
              <c:pt idx="6">
                <c:v>1500</c:v>
              </c:pt>
              <c:pt idx="7">
                <c:v>1400</c:v>
              </c:pt>
              <c:pt idx="8">
                <c:v>1350</c:v>
              </c:pt>
              <c:pt idx="9">
                <c:v>1500</c:v>
              </c:pt>
              <c:pt idx="10">
                <c:v>1500</c:v>
              </c:pt>
              <c:pt idx="11">
                <c:v>1400</c:v>
              </c:pt>
              <c:pt idx="12">
                <c:v>1400</c:v>
              </c:pt>
              <c:pt idx="13">
                <c:v>1300</c:v>
              </c:pt>
              <c:pt idx="14">
                <c:v>1450</c:v>
              </c:pt>
              <c:pt idx="15">
                <c:v>1350</c:v>
              </c:pt>
              <c:pt idx="16">
                <c:v>1450</c:v>
              </c:pt>
              <c:pt idx="17">
                <c:v>1700</c:v>
              </c:pt>
              <c:pt idx="18">
                <c:v>1600</c:v>
              </c:pt>
              <c:pt idx="19">
                <c:v>1700</c:v>
              </c:pt>
              <c:pt idx="20">
                <c:v>1750</c:v>
              </c:pt>
              <c:pt idx="21">
                <c:v>1400</c:v>
              </c:pt>
              <c:pt idx="22">
                <c:v>1500</c:v>
              </c:pt>
              <c:pt idx="23">
                <c:v>1550</c:v>
              </c:pt>
              <c:pt idx="24">
                <c:v>1400</c:v>
              </c:pt>
              <c:pt idx="25">
                <c:v>1450</c:v>
              </c:pt>
              <c:pt idx="26">
                <c:v>1450</c:v>
              </c:pt>
              <c:pt idx="27">
                <c:v>1350</c:v>
              </c:pt>
              <c:pt idx="28">
                <c:v>1450</c:v>
              </c:pt>
              <c:pt idx="29">
                <c:v>1400</c:v>
              </c:pt>
              <c:pt idx="30">
                <c:v>1450</c:v>
              </c:pt>
              <c:pt idx="31">
                <c:v>1350</c:v>
              </c:pt>
              <c:pt idx="32">
                <c:v>1400</c:v>
              </c:pt>
              <c:pt idx="33">
                <c:v>1400</c:v>
              </c:pt>
              <c:pt idx="34">
                <c:v>1500</c:v>
              </c:pt>
              <c:pt idx="35">
                <c:v>1500</c:v>
              </c:pt>
              <c:pt idx="36">
                <c:v>1550</c:v>
              </c:pt>
              <c:pt idx="37">
                <c:v>1500</c:v>
              </c:pt>
              <c:pt idx="38">
                <c:v>1400</c:v>
              </c:pt>
              <c:pt idx="39">
                <c:v>1350</c:v>
              </c:pt>
              <c:pt idx="40">
                <c:v>1300</c:v>
              </c:pt>
              <c:pt idx="41">
                <c:v>1350</c:v>
              </c:pt>
              <c:pt idx="42">
                <c:v>1450</c:v>
              </c:pt>
              <c:pt idx="43">
                <c:v>1400</c:v>
              </c:pt>
              <c:pt idx="44">
                <c:v>1450</c:v>
              </c:pt>
              <c:pt idx="45">
                <c:v>1500</c:v>
              </c:pt>
              <c:pt idx="46">
                <c:v>1450</c:v>
              </c:pt>
              <c:pt idx="47">
                <c:v>1500</c:v>
              </c:pt>
              <c:pt idx="48">
                <c:v>1450</c:v>
              </c:pt>
              <c:pt idx="49">
                <c:v>1550</c:v>
              </c:pt>
              <c:pt idx="50">
                <c:v>1500</c:v>
              </c:pt>
              <c:pt idx="51">
                <c:v>1550</c:v>
              </c:pt>
              <c:pt idx="52">
                <c:v>1550</c:v>
              </c:pt>
              <c:pt idx="53">
                <c:v>1550</c:v>
              </c:pt>
              <c:pt idx="54">
                <c:v>1600</c:v>
              </c:pt>
              <c:pt idx="55">
                <c:v>1550</c:v>
              </c:pt>
              <c:pt idx="56">
                <c:v>1550</c:v>
              </c:pt>
              <c:pt idx="57">
                <c:v>1600</c:v>
              </c:pt>
              <c:pt idx="58">
                <c:v>1700</c:v>
              </c:pt>
              <c:pt idx="59">
                <c:v>1650</c:v>
              </c:pt>
              <c:pt idx="60">
                <c:v>1700</c:v>
              </c:pt>
              <c:pt idx="61">
                <c:v>1650</c:v>
              </c:pt>
              <c:pt idx="62">
                <c:v>1700</c:v>
              </c:pt>
              <c:pt idx="63">
                <c:v>1600</c:v>
              </c:pt>
              <c:pt idx="64">
                <c:v>2000</c:v>
              </c:pt>
              <c:pt idx="65">
                <c:v>2000</c:v>
              </c:pt>
              <c:pt idx="66">
                <c:v>1700</c:v>
              </c:pt>
              <c:pt idx="67">
                <c:v>1150</c:v>
              </c:pt>
              <c:pt idx="68">
                <c:v>2250</c:v>
              </c:pt>
              <c:pt idx="69">
                <c:v>2000</c:v>
              </c:pt>
              <c:pt idx="70">
                <c:v>1900</c:v>
              </c:pt>
              <c:pt idx="71">
                <c:v>2000</c:v>
              </c:pt>
              <c:pt idx="72">
                <c:v>1900</c:v>
              </c:pt>
              <c:pt idx="73">
                <c:v>2000</c:v>
              </c:pt>
              <c:pt idx="74">
                <c:v>1900</c:v>
              </c:pt>
              <c:pt idx="75">
                <c:v>1600</c:v>
              </c:pt>
              <c:pt idx="76">
                <c:v>1750</c:v>
              </c:pt>
              <c:pt idx="77">
                <c:v>1700</c:v>
              </c:pt>
              <c:pt idx="78">
                <c:v>1500</c:v>
              </c:pt>
              <c:pt idx="79">
                <c:v>1450</c:v>
              </c:pt>
              <c:pt idx="80">
                <c:v>1500</c:v>
              </c:pt>
              <c:pt idx="81">
                <c:v>1500</c:v>
              </c:pt>
              <c:pt idx="82">
                <c:v>1400</c:v>
              </c:pt>
              <c:pt idx="83">
                <c:v>1400</c:v>
              </c:pt>
              <c:pt idx="84">
                <c:v>1400</c:v>
              </c:pt>
              <c:pt idx="85">
                <c:v>1400</c:v>
              </c:pt>
              <c:pt idx="86">
                <c:v>1500</c:v>
              </c:pt>
              <c:pt idx="87">
                <c:v>1450</c:v>
              </c:pt>
              <c:pt idx="88">
                <c:v>1500</c:v>
              </c:pt>
              <c:pt idx="89">
                <c:v>1500</c:v>
              </c:pt>
              <c:pt idx="90">
                <c:v>1500</c:v>
              </c:pt>
              <c:pt idx="91">
                <c:v>1600</c:v>
              </c:pt>
              <c:pt idx="92">
                <c:v>1500</c:v>
              </c:pt>
              <c:pt idx="93">
                <c:v>2100</c:v>
              </c:pt>
              <c:pt idx="94">
                <c:v>2000</c:v>
              </c:pt>
              <c:pt idx="95">
                <c:v>2000</c:v>
              </c:pt>
              <c:pt idx="96">
                <c:v>1900</c:v>
              </c:pt>
              <c:pt idx="97">
                <c:v>2200</c:v>
              </c:pt>
              <c:pt idx="98">
                <c:v>1900</c:v>
              </c:pt>
              <c:pt idx="99">
                <c:v>2000</c:v>
              </c:pt>
              <c:pt idx="100">
                <c:v>1900</c:v>
              </c:pt>
              <c:pt idx="101">
                <c:v>2000</c:v>
              </c:pt>
              <c:pt idx="102">
                <c:v>1500</c:v>
              </c:pt>
              <c:pt idx="103">
                <c:v>1250</c:v>
              </c:pt>
              <c:pt idx="104">
                <c:v>1300</c:v>
              </c:pt>
              <c:pt idx="105">
                <c:v>1250</c:v>
              </c:pt>
              <c:pt idx="106">
                <c:v>1300</c:v>
              </c:pt>
              <c:pt idx="107">
                <c:v>1300</c:v>
              </c:pt>
            </c:numLit>
          </c:val>
        </c:ser>
        <c:ser>
          <c:idx val="1"/>
          <c:order val="1"/>
          <c:tx>
            <c:v>Predicted</c:v>
          </c:tx>
          <c:spPr>
            <a:ln xmlns:a="http://schemas.openxmlformats.org/drawingml/2006/main" w="19050">
              <a:solidFill>
                <a:srgbClr val="2F6B4F"/>
              </a:solidFill>
              <a:prstDash val="solid"/>
            </a:ln>
          </c:spPr>
          <c:marker>
            <c:symbol val="none"/>
          </c:marker>
          <c:cat>
            <c:strLit>
              <c:ptCount val="108"/>
              <c:pt idx="0">
                <c:v>06-08</c:v>
              </c:pt>
              <c:pt idx="1">
                <c:v>06-09</c:v>
              </c:pt>
              <c:pt idx="2">
                <c:v>06-10</c:v>
              </c:pt>
              <c:pt idx="3">
                <c:v>06-11</c:v>
              </c:pt>
              <c:pt idx="4">
                <c:v>06-13</c:v>
              </c:pt>
              <c:pt idx="5">
                <c:v>06-14</c:v>
              </c:pt>
              <c:pt idx="6">
                <c:v>06-15</c:v>
              </c:pt>
              <c:pt idx="7">
                <c:v>06-16</c:v>
              </c:pt>
              <c:pt idx="8">
                <c:v>06-17</c:v>
              </c:pt>
              <c:pt idx="9">
                <c:v>06-18</c:v>
              </c:pt>
              <c:pt idx="10">
                <c:v>06-20</c:v>
              </c:pt>
              <c:pt idx="11">
                <c:v>06-21</c:v>
              </c:pt>
              <c:pt idx="12">
                <c:v>06-22</c:v>
              </c:pt>
              <c:pt idx="13">
                <c:v>06-23</c:v>
              </c:pt>
              <c:pt idx="14">
                <c:v>06-24</c:v>
              </c:pt>
              <c:pt idx="15">
                <c:v>06-25</c:v>
              </c:pt>
              <c:pt idx="16">
                <c:v>06-27</c:v>
              </c:pt>
              <c:pt idx="17">
                <c:v>06-28</c:v>
              </c:pt>
              <c:pt idx="18">
                <c:v>06-29</c:v>
              </c:pt>
              <c:pt idx="19">
                <c:v>06-30</c:v>
              </c:pt>
              <c:pt idx="20">
                <c:v>07-01</c:v>
              </c:pt>
              <c:pt idx="21">
                <c:v>07-04</c:v>
              </c:pt>
              <c:pt idx="22">
                <c:v>07-05</c:v>
              </c:pt>
              <c:pt idx="23">
                <c:v>07-06</c:v>
              </c:pt>
              <c:pt idx="24">
                <c:v>07-07</c:v>
              </c:pt>
              <c:pt idx="25">
                <c:v>07-08</c:v>
              </c:pt>
              <c:pt idx="26">
                <c:v>07-09</c:v>
              </c:pt>
              <c:pt idx="27">
                <c:v>07-11</c:v>
              </c:pt>
              <c:pt idx="28">
                <c:v>07-12</c:v>
              </c:pt>
              <c:pt idx="29">
                <c:v>07-13</c:v>
              </c:pt>
              <c:pt idx="30">
                <c:v>07-14</c:v>
              </c:pt>
              <c:pt idx="31">
                <c:v>07-15</c:v>
              </c:pt>
              <c:pt idx="32">
                <c:v>07-16</c:v>
              </c:pt>
              <c:pt idx="33">
                <c:v>07-18</c:v>
              </c:pt>
              <c:pt idx="34">
                <c:v>07-19</c:v>
              </c:pt>
              <c:pt idx="35">
                <c:v>07-21</c:v>
              </c:pt>
              <c:pt idx="36">
                <c:v>07-22</c:v>
              </c:pt>
              <c:pt idx="37">
                <c:v>07-23</c:v>
              </c:pt>
              <c:pt idx="38">
                <c:v>07-27</c:v>
              </c:pt>
              <c:pt idx="39">
                <c:v>07-28</c:v>
              </c:pt>
              <c:pt idx="40">
                <c:v>07-29</c:v>
              </c:pt>
              <c:pt idx="41">
                <c:v>07-30</c:v>
              </c:pt>
              <c:pt idx="42">
                <c:v>08-01</c:v>
              </c:pt>
              <c:pt idx="43">
                <c:v>08-02</c:v>
              </c:pt>
              <c:pt idx="44">
                <c:v>08-03</c:v>
              </c:pt>
              <c:pt idx="45">
                <c:v>08-04</c:v>
              </c:pt>
              <c:pt idx="46">
                <c:v>08-05</c:v>
              </c:pt>
              <c:pt idx="47">
                <c:v>08-06</c:v>
              </c:pt>
              <c:pt idx="48">
                <c:v>08-08</c:v>
              </c:pt>
              <c:pt idx="49">
                <c:v>08-10</c:v>
              </c:pt>
              <c:pt idx="50">
                <c:v>08-11</c:v>
              </c:pt>
              <c:pt idx="51">
                <c:v>08-12</c:v>
              </c:pt>
              <c:pt idx="52">
                <c:v>08-13</c:v>
              </c:pt>
              <c:pt idx="53">
                <c:v>08-16</c:v>
              </c:pt>
              <c:pt idx="54">
                <c:v>08-17</c:v>
              </c:pt>
              <c:pt idx="55">
                <c:v>08-18</c:v>
              </c:pt>
              <c:pt idx="56">
                <c:v>08-19</c:v>
              </c:pt>
              <c:pt idx="57">
                <c:v>08-20</c:v>
              </c:pt>
              <c:pt idx="58">
                <c:v>08-22</c:v>
              </c:pt>
              <c:pt idx="59">
                <c:v>08-23</c:v>
              </c:pt>
              <c:pt idx="60">
                <c:v>08-24</c:v>
              </c:pt>
              <c:pt idx="61">
                <c:v>08-25</c:v>
              </c:pt>
              <c:pt idx="62">
                <c:v>08-26</c:v>
              </c:pt>
              <c:pt idx="63">
                <c:v>08-27</c:v>
              </c:pt>
              <c:pt idx="64">
                <c:v>08-29</c:v>
              </c:pt>
              <c:pt idx="65">
                <c:v>08-30</c:v>
              </c:pt>
              <c:pt idx="66">
                <c:v>09-01</c:v>
              </c:pt>
              <c:pt idx="67">
                <c:v>09-02</c:v>
              </c:pt>
              <c:pt idx="68">
                <c:v>09-03</c:v>
              </c:pt>
              <c:pt idx="69">
                <c:v>09-05</c:v>
              </c:pt>
              <c:pt idx="70">
                <c:v>09-06</c:v>
              </c:pt>
              <c:pt idx="71">
                <c:v>09-07</c:v>
              </c:pt>
              <c:pt idx="72">
                <c:v>09-08</c:v>
              </c:pt>
              <c:pt idx="73">
                <c:v>09-09</c:v>
              </c:pt>
              <c:pt idx="74">
                <c:v>09-10</c:v>
              </c:pt>
              <c:pt idx="75">
                <c:v>09-12</c:v>
              </c:pt>
              <c:pt idx="76">
                <c:v>09-13</c:v>
              </c:pt>
              <c:pt idx="77">
                <c:v>09-14</c:v>
              </c:pt>
              <c:pt idx="78">
                <c:v>09-15</c:v>
              </c:pt>
              <c:pt idx="79">
                <c:v>09-16</c:v>
              </c:pt>
              <c:pt idx="80">
                <c:v>09-17</c:v>
              </c:pt>
              <c:pt idx="81">
                <c:v>09-19</c:v>
              </c:pt>
              <c:pt idx="82">
                <c:v>09-20</c:v>
              </c:pt>
              <c:pt idx="83">
                <c:v>09-21</c:v>
              </c:pt>
              <c:pt idx="84">
                <c:v>09-22</c:v>
              </c:pt>
              <c:pt idx="85">
                <c:v>09-23</c:v>
              </c:pt>
              <c:pt idx="86">
                <c:v>09-24</c:v>
              </c:pt>
              <c:pt idx="87">
                <c:v>09-26</c:v>
              </c:pt>
              <c:pt idx="88">
                <c:v>09-27</c:v>
              </c:pt>
              <c:pt idx="89">
                <c:v>09-28</c:v>
              </c:pt>
              <c:pt idx="90">
                <c:v>09-29</c:v>
              </c:pt>
              <c:pt idx="91">
                <c:v>09-30</c:v>
              </c:pt>
              <c:pt idx="92">
                <c:v>10-01</c:v>
              </c:pt>
              <c:pt idx="93">
                <c:v>10-03</c:v>
              </c:pt>
              <c:pt idx="94">
                <c:v>10-04</c:v>
              </c:pt>
              <c:pt idx="95">
                <c:v>10-06</c:v>
              </c:pt>
              <c:pt idx="96">
                <c:v>10-07</c:v>
              </c:pt>
              <c:pt idx="97">
                <c:v>10-08</c:v>
              </c:pt>
              <c:pt idx="98">
                <c:v>10-12</c:v>
              </c:pt>
              <c:pt idx="99">
                <c:v>10-13</c:v>
              </c:pt>
              <c:pt idx="100">
                <c:v>10-14</c:v>
              </c:pt>
              <c:pt idx="101">
                <c:v>10-15</c:v>
              </c:pt>
              <c:pt idx="102">
                <c:v>10-17</c:v>
              </c:pt>
              <c:pt idx="103">
                <c:v>10-18</c:v>
              </c:pt>
              <c:pt idx="104">
                <c:v>10-26</c:v>
              </c:pt>
              <c:pt idx="105">
                <c:v>10-27</c:v>
              </c:pt>
              <c:pt idx="106">
                <c:v>10-28</c:v>
              </c:pt>
              <c:pt idx="107">
                <c:v>10-29</c:v>
              </c:pt>
            </c:strLit>
          </c:cat>
          <c:val>
            <c:numLit>
              <c:formatCode>General</c:formatCode>
              <c:ptCount val="108"/>
              <c:pt idx="0">
                <c:v>1250</c:v>
              </c:pt>
              <c:pt idx="1">
                <c:v>1250</c:v>
              </c:pt>
              <c:pt idx="2">
                <c:v>1350</c:v>
              </c:pt>
              <c:pt idx="3">
                <c:v>1250</c:v>
              </c:pt>
              <c:pt idx="4">
                <c:v>1400</c:v>
              </c:pt>
              <c:pt idx="5">
                <c:v>1400</c:v>
              </c:pt>
              <c:pt idx="6">
                <c:v>1400</c:v>
              </c:pt>
              <c:pt idx="7">
                <c:v>1500</c:v>
              </c:pt>
              <c:pt idx="8">
                <c:v>1400</c:v>
              </c:pt>
              <c:pt idx="9">
                <c:v>1350</c:v>
              </c:pt>
              <c:pt idx="10">
                <c:v>1500</c:v>
              </c:pt>
              <c:pt idx="11">
                <c:v>1500</c:v>
              </c:pt>
              <c:pt idx="12">
                <c:v>1400</c:v>
              </c:pt>
              <c:pt idx="13">
                <c:v>1400</c:v>
              </c:pt>
              <c:pt idx="14">
                <c:v>1300</c:v>
              </c:pt>
              <c:pt idx="15">
                <c:v>1450</c:v>
              </c:pt>
              <c:pt idx="16">
                <c:v>1350</c:v>
              </c:pt>
              <c:pt idx="17">
                <c:v>1450</c:v>
              </c:pt>
              <c:pt idx="18">
                <c:v>1700</c:v>
              </c:pt>
              <c:pt idx="19">
                <c:v>1600</c:v>
              </c:pt>
              <c:pt idx="20">
                <c:v>1700</c:v>
              </c:pt>
              <c:pt idx="21">
                <c:v>1750</c:v>
              </c:pt>
              <c:pt idx="22">
                <c:v>1400</c:v>
              </c:pt>
              <c:pt idx="23">
                <c:v>1500</c:v>
              </c:pt>
              <c:pt idx="24">
                <c:v>1550</c:v>
              </c:pt>
              <c:pt idx="25">
                <c:v>1400</c:v>
              </c:pt>
              <c:pt idx="26">
                <c:v>1450</c:v>
              </c:pt>
              <c:pt idx="27">
                <c:v>1450</c:v>
              </c:pt>
              <c:pt idx="28">
                <c:v>1350</c:v>
              </c:pt>
              <c:pt idx="29">
                <c:v>1450</c:v>
              </c:pt>
              <c:pt idx="30">
                <c:v>1400</c:v>
              </c:pt>
              <c:pt idx="31">
                <c:v>1450</c:v>
              </c:pt>
              <c:pt idx="32">
                <c:v>1350</c:v>
              </c:pt>
              <c:pt idx="33">
                <c:v>1400</c:v>
              </c:pt>
              <c:pt idx="34">
                <c:v>1400</c:v>
              </c:pt>
              <c:pt idx="35">
                <c:v>1500</c:v>
              </c:pt>
              <c:pt idx="36">
                <c:v>1500</c:v>
              </c:pt>
              <c:pt idx="37">
                <c:v>1550</c:v>
              </c:pt>
              <c:pt idx="38">
                <c:v>1500</c:v>
              </c:pt>
              <c:pt idx="39">
                <c:v>1400</c:v>
              </c:pt>
              <c:pt idx="40">
                <c:v>1350</c:v>
              </c:pt>
              <c:pt idx="41">
                <c:v>1300</c:v>
              </c:pt>
              <c:pt idx="42">
                <c:v>1350</c:v>
              </c:pt>
              <c:pt idx="43">
                <c:v>1450</c:v>
              </c:pt>
              <c:pt idx="44">
                <c:v>1400</c:v>
              </c:pt>
              <c:pt idx="45">
                <c:v>1450</c:v>
              </c:pt>
              <c:pt idx="46">
                <c:v>1500</c:v>
              </c:pt>
              <c:pt idx="47">
                <c:v>1450</c:v>
              </c:pt>
              <c:pt idx="48">
                <c:v>1500</c:v>
              </c:pt>
              <c:pt idx="49">
                <c:v>1450</c:v>
              </c:pt>
              <c:pt idx="50">
                <c:v>1550</c:v>
              </c:pt>
              <c:pt idx="51">
                <c:v>1500</c:v>
              </c:pt>
              <c:pt idx="52">
                <c:v>1550</c:v>
              </c:pt>
              <c:pt idx="53">
                <c:v>1550</c:v>
              </c:pt>
              <c:pt idx="54">
                <c:v>1550</c:v>
              </c:pt>
              <c:pt idx="55">
                <c:v>1600</c:v>
              </c:pt>
              <c:pt idx="56">
                <c:v>1550</c:v>
              </c:pt>
              <c:pt idx="57">
                <c:v>1550</c:v>
              </c:pt>
              <c:pt idx="58">
                <c:v>1600</c:v>
              </c:pt>
              <c:pt idx="59">
                <c:v>1700</c:v>
              </c:pt>
              <c:pt idx="60">
                <c:v>1650</c:v>
              </c:pt>
              <c:pt idx="61">
                <c:v>1700</c:v>
              </c:pt>
              <c:pt idx="62">
                <c:v>1650</c:v>
              </c:pt>
              <c:pt idx="63">
                <c:v>1700</c:v>
              </c:pt>
              <c:pt idx="64">
                <c:v>1600</c:v>
              </c:pt>
              <c:pt idx="65">
                <c:v>2000</c:v>
              </c:pt>
              <c:pt idx="66">
                <c:v>2000</c:v>
              </c:pt>
              <c:pt idx="67">
                <c:v>1700</c:v>
              </c:pt>
              <c:pt idx="68">
                <c:v>1150</c:v>
              </c:pt>
              <c:pt idx="69">
                <c:v>2250</c:v>
              </c:pt>
              <c:pt idx="70">
                <c:v>2000</c:v>
              </c:pt>
              <c:pt idx="71">
                <c:v>1900</c:v>
              </c:pt>
              <c:pt idx="72">
                <c:v>2000</c:v>
              </c:pt>
              <c:pt idx="73">
                <c:v>1900</c:v>
              </c:pt>
              <c:pt idx="74">
                <c:v>2000</c:v>
              </c:pt>
              <c:pt idx="75">
                <c:v>1900</c:v>
              </c:pt>
              <c:pt idx="76">
                <c:v>1600</c:v>
              </c:pt>
              <c:pt idx="77">
                <c:v>1750</c:v>
              </c:pt>
              <c:pt idx="78">
                <c:v>1700</c:v>
              </c:pt>
              <c:pt idx="79">
                <c:v>1500</c:v>
              </c:pt>
              <c:pt idx="80">
                <c:v>1450</c:v>
              </c:pt>
              <c:pt idx="81">
                <c:v>1500</c:v>
              </c:pt>
              <c:pt idx="82">
                <c:v>1500</c:v>
              </c:pt>
              <c:pt idx="83">
                <c:v>1400</c:v>
              </c:pt>
              <c:pt idx="84">
                <c:v>1400</c:v>
              </c:pt>
              <c:pt idx="85">
                <c:v>1400</c:v>
              </c:pt>
              <c:pt idx="86">
                <c:v>1400</c:v>
              </c:pt>
              <c:pt idx="87">
                <c:v>1500</c:v>
              </c:pt>
              <c:pt idx="88">
                <c:v>1450</c:v>
              </c:pt>
              <c:pt idx="89">
                <c:v>1500</c:v>
              </c:pt>
              <c:pt idx="90">
                <c:v>1500</c:v>
              </c:pt>
              <c:pt idx="91">
                <c:v>1500</c:v>
              </c:pt>
              <c:pt idx="92">
                <c:v>1600</c:v>
              </c:pt>
              <c:pt idx="93">
                <c:v>1500</c:v>
              </c:pt>
              <c:pt idx="94">
                <c:v>2100</c:v>
              </c:pt>
              <c:pt idx="95">
                <c:v>2000</c:v>
              </c:pt>
              <c:pt idx="96">
                <c:v>2000</c:v>
              </c:pt>
              <c:pt idx="97">
                <c:v>1900</c:v>
              </c:pt>
              <c:pt idx="98">
                <c:v>2200</c:v>
              </c:pt>
              <c:pt idx="99">
                <c:v>1900</c:v>
              </c:pt>
              <c:pt idx="100">
                <c:v>2000</c:v>
              </c:pt>
              <c:pt idx="101">
                <c:v>1900</c:v>
              </c:pt>
              <c:pt idx="102">
                <c:v>2000</c:v>
              </c:pt>
              <c:pt idx="103">
                <c:v>1500</c:v>
              </c:pt>
              <c:pt idx="104">
                <c:v>1250</c:v>
              </c:pt>
              <c:pt idx="105">
                <c:v>1300</c:v>
              </c:pt>
              <c:pt idx="106">
                <c:v>1250</c:v>
              </c:pt>
              <c:pt idx="107">
                <c:v>1300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Times New Roman"/>
                    <a:ea typeface="Times New Roman"/>
                    <a:cs typeface="Times New Roman"/>
                  </a:rPr>
                  <a:t>Held-out reported date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  <c:lblOffset val="65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EE6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Times New Roman"/>
                    <a:ea typeface="Times New Roman"/>
                    <a:cs typeface="Times New Roman"/>
                  </a:rPr>
                  <a:t>INR per quintal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Times New Roman"/>
              <a:ea typeface="Times New Roman"/>
              <a:cs typeface="Times New Roman"/>
            </a:defRPr>
          </a:pPr>
        </a:p>
      </c:txPr>
    </c:legend>
    <c:plotVisOnly val="1"/>
  </c:chart>
</c:chartSpace>
</file>

<file path=ppt/slides/charts/chart6.xml><?xml version="1.0" encoding="utf-8"?>
<c:chartSpace xmlns:c="http://schemas.openxmlformats.org/drawingml/2006/chart">
  <c:lang val="en-US"/>
  <c:chart>
    <c:plotArea>
      <c:scatterChart>
        <c:scatterStyle val="marker"/>
        <c:varyColors val="0"/>
        <c:ser>
          <c:idx val="0"/>
          <c:order val="0"/>
          <c:tx>
            <c:v>Held-out observations</c:v>
          </c:tx>
          <c:spPr>
            <a:ln xmlns:a="http://schemas.openxmlformats.org/drawingml/2006/main" w="0">
              <a:noFill/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2F6B4F"/>
              </a:solidFill>
            </c:spPr>
          </c:marker>
          <c:xVal>
            <c:numLit>
              <c:formatCode>General</c:formatCode>
              <c:ptCount val="120"/>
              <c:pt idx="0">
                <c:v>1665</c:v>
              </c:pt>
              <c:pt idx="1">
                <c:v>800</c:v>
              </c:pt>
              <c:pt idx="2">
                <c:v>1350</c:v>
              </c:pt>
              <c:pt idx="3">
                <c:v>1200</c:v>
              </c:pt>
              <c:pt idx="4">
                <c:v>1750</c:v>
              </c:pt>
              <c:pt idx="5">
                <c:v>1200</c:v>
              </c:pt>
              <c:pt idx="6">
                <c:v>1550</c:v>
              </c:pt>
              <c:pt idx="7">
                <c:v>1500</c:v>
              </c:pt>
              <c:pt idx="8">
                <c:v>1350</c:v>
              </c:pt>
              <c:pt idx="9">
                <c:v>1100</c:v>
              </c:pt>
              <c:pt idx="10">
                <c:v>1400</c:v>
              </c:pt>
              <c:pt idx="11">
                <c:v>900</c:v>
              </c:pt>
              <c:pt idx="12">
                <c:v>1350</c:v>
              </c:pt>
              <c:pt idx="13">
                <c:v>1475</c:v>
              </c:pt>
              <c:pt idx="14">
                <c:v>1500</c:v>
              </c:pt>
              <c:pt idx="15">
                <c:v>1400</c:v>
              </c:pt>
              <c:pt idx="16">
                <c:v>1350</c:v>
              </c:pt>
              <c:pt idx="17">
                <c:v>1400</c:v>
              </c:pt>
              <c:pt idx="18">
                <c:v>1050</c:v>
              </c:pt>
              <c:pt idx="19">
                <c:v>1550</c:v>
              </c:pt>
              <c:pt idx="20">
                <c:v>1050</c:v>
              </c:pt>
              <c:pt idx="21">
                <c:v>1000</c:v>
              </c:pt>
              <c:pt idx="22">
                <c:v>1650</c:v>
              </c:pt>
              <c:pt idx="23">
                <c:v>1650</c:v>
              </c:pt>
              <c:pt idx="24">
                <c:v>1500</c:v>
              </c:pt>
              <c:pt idx="25">
                <c:v>950</c:v>
              </c:pt>
              <c:pt idx="26">
                <c:v>1400</c:v>
              </c:pt>
              <c:pt idx="27">
                <c:v>1000</c:v>
              </c:pt>
              <c:pt idx="28">
                <c:v>1500</c:v>
              </c:pt>
              <c:pt idx="29">
                <c:v>950</c:v>
              </c:pt>
              <c:pt idx="30">
                <c:v>1500</c:v>
              </c:pt>
              <c:pt idx="31">
                <c:v>1150</c:v>
              </c:pt>
              <c:pt idx="32">
                <c:v>1200</c:v>
              </c:pt>
              <c:pt idx="33">
                <c:v>1300</c:v>
              </c:pt>
              <c:pt idx="34">
                <c:v>1200</c:v>
              </c:pt>
              <c:pt idx="35">
                <c:v>1000</c:v>
              </c:pt>
              <c:pt idx="36">
                <c:v>1250</c:v>
              </c:pt>
              <c:pt idx="37">
                <c:v>1050</c:v>
              </c:pt>
              <c:pt idx="38">
                <c:v>1450</c:v>
              </c:pt>
              <c:pt idx="39">
                <c:v>1000</c:v>
              </c:pt>
              <c:pt idx="40">
                <c:v>1450</c:v>
              </c:pt>
              <c:pt idx="41">
                <c:v>1000</c:v>
              </c:pt>
              <c:pt idx="42">
                <c:v>975</c:v>
              </c:pt>
              <c:pt idx="43">
                <c:v>956</c:v>
              </c:pt>
              <c:pt idx="44">
                <c:v>1000</c:v>
              </c:pt>
              <c:pt idx="45">
                <c:v>1200</c:v>
              </c:pt>
              <c:pt idx="46">
                <c:v>1200</c:v>
              </c:pt>
              <c:pt idx="47">
                <c:v>1550</c:v>
              </c:pt>
              <c:pt idx="48">
                <c:v>1250</c:v>
              </c:pt>
              <c:pt idx="49">
                <c:v>900</c:v>
              </c:pt>
              <c:pt idx="50">
                <c:v>1200</c:v>
              </c:pt>
              <c:pt idx="51">
                <c:v>1050</c:v>
              </c:pt>
              <c:pt idx="52">
                <c:v>1000</c:v>
              </c:pt>
              <c:pt idx="53">
                <c:v>1100</c:v>
              </c:pt>
              <c:pt idx="54">
                <c:v>950</c:v>
              </c:pt>
              <c:pt idx="55">
                <c:v>1000</c:v>
              </c:pt>
              <c:pt idx="56">
                <c:v>1200</c:v>
              </c:pt>
              <c:pt idx="57">
                <c:v>1275</c:v>
              </c:pt>
              <c:pt idx="58">
                <c:v>1200</c:v>
              </c:pt>
              <c:pt idx="59">
                <c:v>1000</c:v>
              </c:pt>
              <c:pt idx="60">
                <c:v>1450</c:v>
              </c:pt>
              <c:pt idx="61">
                <c:v>800</c:v>
              </c:pt>
              <c:pt idx="62">
                <c:v>1275</c:v>
              </c:pt>
              <c:pt idx="63">
                <c:v>1050</c:v>
              </c:pt>
              <c:pt idx="64">
                <c:v>800</c:v>
              </c:pt>
              <c:pt idx="65">
                <c:v>1150</c:v>
              </c:pt>
              <c:pt idx="66">
                <c:v>1200</c:v>
              </c:pt>
              <c:pt idx="67">
                <c:v>1375</c:v>
              </c:pt>
              <c:pt idx="68">
                <c:v>1500</c:v>
              </c:pt>
              <c:pt idx="69">
                <c:v>1150</c:v>
              </c:pt>
              <c:pt idx="70">
                <c:v>1550</c:v>
              </c:pt>
              <c:pt idx="71">
                <c:v>1300</c:v>
              </c:pt>
              <c:pt idx="72">
                <c:v>1100</c:v>
              </c:pt>
              <c:pt idx="73">
                <c:v>1550</c:v>
              </c:pt>
              <c:pt idx="74">
                <c:v>1000</c:v>
              </c:pt>
              <c:pt idx="75">
                <c:v>1155</c:v>
              </c:pt>
              <c:pt idx="76">
                <c:v>1000</c:v>
              </c:pt>
              <c:pt idx="77">
                <c:v>500</c:v>
              </c:pt>
              <c:pt idx="78">
                <c:v>800</c:v>
              </c:pt>
              <c:pt idx="79">
                <c:v>1000</c:v>
              </c:pt>
              <c:pt idx="80">
                <c:v>1050</c:v>
              </c:pt>
              <c:pt idx="81">
                <c:v>1300</c:v>
              </c:pt>
              <c:pt idx="82">
                <c:v>900</c:v>
              </c:pt>
              <c:pt idx="83">
                <c:v>1200</c:v>
              </c:pt>
              <c:pt idx="84">
                <c:v>900</c:v>
              </c:pt>
              <c:pt idx="85">
                <c:v>1700</c:v>
              </c:pt>
              <c:pt idx="86">
                <c:v>1150</c:v>
              </c:pt>
              <c:pt idx="87">
                <c:v>868</c:v>
              </c:pt>
              <c:pt idx="88">
                <c:v>1050</c:v>
              </c:pt>
              <c:pt idx="89">
                <c:v>1000</c:v>
              </c:pt>
              <c:pt idx="90">
                <c:v>1375</c:v>
              </c:pt>
              <c:pt idx="91">
                <c:v>1050</c:v>
              </c:pt>
              <c:pt idx="92">
                <c:v>1150</c:v>
              </c:pt>
              <c:pt idx="93">
                <c:v>1125</c:v>
              </c:pt>
              <c:pt idx="94">
                <c:v>1000</c:v>
              </c:pt>
              <c:pt idx="95">
                <c:v>800</c:v>
              </c:pt>
              <c:pt idx="96">
                <c:v>1150</c:v>
              </c:pt>
              <c:pt idx="97">
                <c:v>1000</c:v>
              </c:pt>
              <c:pt idx="98">
                <c:v>1050</c:v>
              </c:pt>
              <c:pt idx="99">
                <c:v>875</c:v>
              </c:pt>
              <c:pt idx="100">
                <c:v>1050</c:v>
              </c:pt>
              <c:pt idx="101">
                <c:v>900</c:v>
              </c:pt>
              <c:pt idx="102">
                <c:v>700</c:v>
              </c:pt>
              <c:pt idx="103">
                <c:v>1200</c:v>
              </c:pt>
              <c:pt idx="104">
                <c:v>1100</c:v>
              </c:pt>
              <c:pt idx="105">
                <c:v>1400</c:v>
              </c:pt>
              <c:pt idx="106">
                <c:v>650</c:v>
              </c:pt>
              <c:pt idx="107">
                <c:v>1200</c:v>
              </c:pt>
              <c:pt idx="108">
                <c:v>1000</c:v>
              </c:pt>
              <c:pt idx="109">
                <c:v>950</c:v>
              </c:pt>
              <c:pt idx="110">
                <c:v>1100</c:v>
              </c:pt>
              <c:pt idx="111">
                <c:v>1000</c:v>
              </c:pt>
              <c:pt idx="112">
                <c:v>1000</c:v>
              </c:pt>
              <c:pt idx="113">
                <c:v>1150</c:v>
              </c:pt>
              <c:pt idx="114">
                <c:v>900</c:v>
              </c:pt>
              <c:pt idx="115">
                <c:v>600</c:v>
              </c:pt>
              <c:pt idx="116">
                <c:v>1050</c:v>
              </c:pt>
              <c:pt idx="117">
                <c:v>995</c:v>
              </c:pt>
              <c:pt idx="118">
                <c:v>1000</c:v>
              </c:pt>
              <c:pt idx="119">
                <c:v>1000</c:v>
              </c:pt>
            </c:numLit>
          </c:xVal>
          <c:yVal>
            <c:numLit>
              <c:formatCode>General</c:formatCode>
              <c:ptCount val="120"/>
              <c:pt idx="0">
                <c:v>1621</c:v>
              </c:pt>
              <c:pt idx="1">
                <c:v>800</c:v>
              </c:pt>
              <c:pt idx="2">
                <c:v>1250</c:v>
              </c:pt>
              <c:pt idx="3">
                <c:v>1200</c:v>
              </c:pt>
              <c:pt idx="4">
                <c:v>1550</c:v>
              </c:pt>
              <c:pt idx="5">
                <c:v>1200</c:v>
              </c:pt>
              <c:pt idx="6">
                <c:v>1450</c:v>
              </c:pt>
              <c:pt idx="7">
                <c:v>1500</c:v>
              </c:pt>
              <c:pt idx="8">
                <c:v>1300</c:v>
              </c:pt>
              <c:pt idx="9">
                <c:v>1100</c:v>
              </c:pt>
              <c:pt idx="10">
                <c:v>1501</c:v>
              </c:pt>
              <c:pt idx="11">
                <c:v>900</c:v>
              </c:pt>
              <c:pt idx="12">
                <c:v>1450</c:v>
              </c:pt>
              <c:pt idx="13">
                <c:v>1500</c:v>
              </c:pt>
              <c:pt idx="14">
                <c:v>1500</c:v>
              </c:pt>
              <c:pt idx="15">
                <c:v>1400</c:v>
              </c:pt>
              <c:pt idx="16">
                <c:v>1400</c:v>
              </c:pt>
              <c:pt idx="17">
                <c:v>1400</c:v>
              </c:pt>
              <c:pt idx="18">
                <c:v>1100</c:v>
              </c:pt>
              <c:pt idx="19">
                <c:v>1450</c:v>
              </c:pt>
              <c:pt idx="20">
                <c:v>1100</c:v>
              </c:pt>
              <c:pt idx="21">
                <c:v>1200</c:v>
              </c:pt>
              <c:pt idx="22">
                <c:v>1250</c:v>
              </c:pt>
              <c:pt idx="23">
                <c:v>550</c:v>
              </c:pt>
              <c:pt idx="24">
                <c:v>1400</c:v>
              </c:pt>
              <c:pt idx="25">
                <c:v>1650</c:v>
              </c:pt>
              <c:pt idx="26">
                <c:v>1400</c:v>
              </c:pt>
              <c:pt idx="27">
                <c:v>1000</c:v>
              </c:pt>
              <c:pt idx="28">
                <c:v>1550</c:v>
              </c:pt>
              <c:pt idx="29">
                <c:v>950</c:v>
              </c:pt>
              <c:pt idx="30">
                <c:v>1400</c:v>
              </c:pt>
              <c:pt idx="31">
                <c:v>1250</c:v>
              </c:pt>
              <c:pt idx="32">
                <c:v>1550</c:v>
              </c:pt>
              <c:pt idx="33">
                <c:v>1500</c:v>
              </c:pt>
              <c:pt idx="34">
                <c:v>1500</c:v>
              </c:pt>
              <c:pt idx="35">
                <c:v>1000</c:v>
              </c:pt>
              <c:pt idx="36">
                <c:v>1375</c:v>
              </c:pt>
              <c:pt idx="37">
                <c:v>1150</c:v>
              </c:pt>
              <c:pt idx="38">
                <c:v>1350</c:v>
              </c:pt>
              <c:pt idx="39">
                <c:v>1000</c:v>
              </c:pt>
              <c:pt idx="40">
                <c:v>1400</c:v>
              </c:pt>
              <c:pt idx="41">
                <c:v>985</c:v>
              </c:pt>
              <c:pt idx="42">
                <c:v>950</c:v>
              </c:pt>
              <c:pt idx="43">
                <c:v>975</c:v>
              </c:pt>
              <c:pt idx="44">
                <c:v>1000</c:v>
              </c:pt>
              <c:pt idx="45">
                <c:v>1200</c:v>
              </c:pt>
              <c:pt idx="46">
                <c:v>1000</c:v>
              </c:pt>
              <c:pt idx="47">
                <c:v>450</c:v>
              </c:pt>
              <c:pt idx="48">
                <c:v>1250</c:v>
              </c:pt>
              <c:pt idx="49">
                <c:v>1000</c:v>
              </c:pt>
              <c:pt idx="50">
                <c:v>1200</c:v>
              </c:pt>
              <c:pt idx="51">
                <c:v>1350</c:v>
              </c:pt>
              <c:pt idx="52">
                <c:v>1000</c:v>
              </c:pt>
              <c:pt idx="53">
                <c:v>1100</c:v>
              </c:pt>
              <c:pt idx="54">
                <c:v>955</c:v>
              </c:pt>
              <c:pt idx="55">
                <c:v>1000</c:v>
              </c:pt>
              <c:pt idx="56">
                <c:v>1100</c:v>
              </c:pt>
              <c:pt idx="57">
                <c:v>1300</c:v>
              </c:pt>
              <c:pt idx="58">
                <c:v>1200</c:v>
              </c:pt>
              <c:pt idx="59">
                <c:v>1000</c:v>
              </c:pt>
              <c:pt idx="60">
                <c:v>950</c:v>
              </c:pt>
              <c:pt idx="61">
                <c:v>1000</c:v>
              </c:pt>
              <c:pt idx="62">
                <c:v>1275</c:v>
              </c:pt>
              <c:pt idx="63">
                <c:v>800</c:v>
              </c:pt>
              <c:pt idx="64">
                <c:v>850</c:v>
              </c:pt>
              <c:pt idx="65">
                <c:v>1050</c:v>
              </c:pt>
              <c:pt idx="66">
                <c:v>1100</c:v>
              </c:pt>
              <c:pt idx="67">
                <c:v>1250</c:v>
              </c:pt>
              <c:pt idx="68">
                <c:v>1375</c:v>
              </c:pt>
              <c:pt idx="69">
                <c:v>1411</c:v>
              </c:pt>
              <c:pt idx="70">
                <c:v>1450</c:v>
              </c:pt>
              <c:pt idx="71">
                <c:v>1300</c:v>
              </c:pt>
              <c:pt idx="72">
                <c:v>1050</c:v>
              </c:pt>
              <c:pt idx="73">
                <c:v>1600</c:v>
              </c:pt>
              <c:pt idx="74">
                <c:v>800</c:v>
              </c:pt>
              <c:pt idx="75">
                <c:v>1150</c:v>
              </c:pt>
              <c:pt idx="76">
                <c:v>1050</c:v>
              </c:pt>
              <c:pt idx="77">
                <c:v>1650</c:v>
              </c:pt>
              <c:pt idx="78">
                <c:v>900</c:v>
              </c:pt>
              <c:pt idx="79">
                <c:v>1200</c:v>
              </c:pt>
              <c:pt idx="80">
                <c:v>1100</c:v>
              </c:pt>
              <c:pt idx="81">
                <c:v>1400</c:v>
              </c:pt>
              <c:pt idx="82">
                <c:v>1050</c:v>
              </c:pt>
              <c:pt idx="83">
                <c:v>1300</c:v>
              </c:pt>
              <c:pt idx="84">
                <c:v>1000</c:v>
              </c:pt>
              <c:pt idx="85">
                <c:v>2000</c:v>
              </c:pt>
              <c:pt idx="86">
                <c:v>1700</c:v>
              </c:pt>
              <c:pt idx="87">
                <c:v>1200</c:v>
              </c:pt>
              <c:pt idx="88">
                <c:v>1050</c:v>
              </c:pt>
              <c:pt idx="89">
                <c:v>1000</c:v>
              </c:pt>
              <c:pt idx="90">
                <c:v>1350</c:v>
              </c:pt>
              <c:pt idx="91">
                <c:v>1050</c:v>
              </c:pt>
              <c:pt idx="92">
                <c:v>1150</c:v>
              </c:pt>
              <c:pt idx="93">
                <c:v>1150</c:v>
              </c:pt>
              <c:pt idx="94">
                <c:v>1250</c:v>
              </c:pt>
              <c:pt idx="95">
                <c:v>900</c:v>
              </c:pt>
              <c:pt idx="96">
                <c:v>1250</c:v>
              </c:pt>
              <c:pt idx="97">
                <c:v>800</c:v>
              </c:pt>
              <c:pt idx="98">
                <c:v>1000</c:v>
              </c:pt>
              <c:pt idx="99">
                <c:v>851</c:v>
              </c:pt>
              <c:pt idx="100">
                <c:v>1000</c:v>
              </c:pt>
              <c:pt idx="101">
                <c:v>900</c:v>
              </c:pt>
              <c:pt idx="102">
                <c:v>950</c:v>
              </c:pt>
              <c:pt idx="103">
                <c:v>1200</c:v>
              </c:pt>
              <c:pt idx="104">
                <c:v>1200</c:v>
              </c:pt>
              <c:pt idx="105">
                <c:v>1500</c:v>
              </c:pt>
              <c:pt idx="106">
                <c:v>700</c:v>
              </c:pt>
              <c:pt idx="107">
                <c:v>1100</c:v>
              </c:pt>
              <c:pt idx="108">
                <c:v>805</c:v>
              </c:pt>
              <c:pt idx="109">
                <c:v>925</c:v>
              </c:pt>
              <c:pt idx="110">
                <c:v>1100</c:v>
              </c:pt>
              <c:pt idx="111">
                <c:v>1000</c:v>
              </c:pt>
              <c:pt idx="112">
                <c:v>900</c:v>
              </c:pt>
              <c:pt idx="113">
                <c:v>1150</c:v>
              </c:pt>
              <c:pt idx="114">
                <c:v>925</c:v>
              </c:pt>
              <c:pt idx="115">
                <c:v>1000</c:v>
              </c:pt>
              <c:pt idx="116">
                <c:v>950</c:v>
              </c:pt>
              <c:pt idx="117">
                <c:v>1075</c:v>
              </c:pt>
              <c:pt idx="118">
                <c:v>1050</c:v>
              </c:pt>
              <c:pt idx="119">
                <c:v>900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EE6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Times New Roman"/>
                    <a:ea typeface="Times New Roman"/>
                    <a:cs typeface="Times New Roman"/>
                  </a:rPr>
                  <a:t>Predicted (INR/q)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8DEE6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Times New Roman"/>
                    <a:ea typeface="Times New Roman"/>
                    <a:cs typeface="Times New Roman"/>
                  </a:rPr>
                  <a:t>Actual (INR/q)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7B4C6E-B002-4C27-8E24-B764C9AC8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4F"/>
          </a:solidFill>
          <a:ln xmlns:a="http://schemas.openxmlformats.org/drawingml/2006/main" w="0">
            <a:solidFill>
              <a:srgbClr val="2F6B4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352D3D-EDF7-472C-B1C7-1871E759C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81100"/>
            <a:ext cx="10382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269"/>
          </a:bodyPr>
          <a:lstStyle xmlns:a="http://schemas.openxmlformats.org/drawingml/2006/main">
            <a:defPPr algn="l">
              <a:defRPr sz="390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390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90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AgriFlow: Agricultural Market Price Analysis and Forecasting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42202A-8D55-4655-95E2-A9F3930A6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Spatiotemporal Market Integration and Machine Learning-Based Price Prediction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5FD947-BB1E-4940-A61E-23F081115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95650"/>
            <a:ext cx="971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solidFill>
              <a:srgbClr val="D8DEE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C045DB-EC2B-401C-9F69-AD1589D1A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495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rPr>
              <a:t>CSI3004 Data Science Programming</a:t>
            </a:r>
          </a:p>
          <a:p xmlns:a="http://schemas.openxmlformats.org/drawingml/2006/main">
            <a:pPr algn="l">
              <a:defRPr sz="1725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rPr>
              <a:t>Vellore Institute of Technology, Vellore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55C126-230A-46D5-8199-DF8E9CC06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38550"/>
            <a:ext cx="4095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Kasinath C A - 24MID0124</a:t>
            </a:r>
          </a:p>
          <a:p xmlns:a="http://schemas.openxmlformats.org/drawingml/2006/main">
            <a:pPr algn="l">
              <a:defRPr sz="172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Kamal Nayan C S - 24MID0189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E3E76D-6F85-4F02-A0EB-0E821888E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817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>
            <a:defPPr algn="l">
              <a:defRPr sz="135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rPr>
              <a:t>Final Review | 13 October 2026</a:t>
            </a:r>
          </a:p>
        </p:txBody>
      </p:sp>
    </p:spTree>
    <p:extLst>
      <p:ext uri="{BB962C8B-B14F-4D97-AF65-F5344CB8AC3E}">
        <p14:creationId xmlns:p14="http://schemas.microsoft.com/office/powerpoint/2010/main" val="18039091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654FEE-53CC-4B67-AB3D-FE19DABB3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190"/>
          </a:bodyPr>
          <a:lstStyle xmlns:a="http://schemas.openxmlformats.org/drawingml/2006/main">
            <a:defPPr algn="l">
              <a:defRPr sz="315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Problem Statement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196D9C-6713-4E02-9A78-4BCA21D94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1101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solidFill>
              <a:srgbClr val="17365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38E0DF-2A37-46B3-9A93-8AC40C84F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>
            <a:defPPr algn="r">
              <a:def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24AA69-12F7-4137-A87A-C2B0CCE5D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54292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87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Wholesale Onion prices vary sharply across markets and seasons.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87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Markets report on uneven dates, which complicates direct comparison.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87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Analysts need both descriptive market evidence and a cautious short-horizon forecast.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87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Intended users include market analysts, agricultural researchers and other stakeholders.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888A33-8F74-4326-9B4C-194AC1169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381125"/>
            <a:ext cx="3714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0"/>
          </a:solidFill>
          <a:ln xmlns:a="http://schemas.openxmlformats.org/drawingml/2006/main" w="9525">
            <a:solidFill>
              <a:srgbClr val="2F6B4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Uneven market reports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D39F8A-C2E4-417C-8FC9-43F2D6A28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43175"/>
            <a:ext cx="3714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Validated historical panel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90CDDC-4D2A-4646-B2A4-B6E13A738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05225"/>
            <a:ext cx="3714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0"/>
          </a:solidFill>
          <a:ln xmlns:a="http://schemas.openxmlformats.org/drawingml/2006/main" w="9525">
            <a:solidFill>
              <a:srgbClr val="2F6B4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Analysis plus next-report forecast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87D444-FF16-43AB-8AB4-B7966EB5D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621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>
            <a:defPPr algn="ctr">
              <a:defRPr sz="1650" b="1">
                <a:solidFill>
                  <a:srgbClr val="2F6B4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2F6B4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2F6B4F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892ECF-C871-41FB-B170-A374D0970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241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>
            <a:defPPr algn="ctr">
              <a:defRPr sz="1650" b="1">
                <a:solidFill>
                  <a:srgbClr val="2F6B4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2F6B4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2F6B4F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275EB4-A7EA-4939-B249-E73C68A3E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624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>
            <a:defPPr algn="ctr">
              <a:defRPr sz="1650" b="1">
                <a:solidFill>
                  <a:srgbClr val="2F6B4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2F6B4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2F6B4F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59B781-3EEC-4204-BCFD-BE3F9EC45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rPr>
              <a:t>The predictive task estimates the next reported observation, not an exact next-day or current market price.</a:t>
            </a:r>
          </a:p>
        </p:txBody>
      </p:sp>
    </p:spTree>
    <p:extLst>
      <p:ext uri="{BB962C8B-B14F-4D97-AF65-F5344CB8AC3E}">
        <p14:creationId xmlns:p14="http://schemas.microsoft.com/office/powerpoint/2010/main" val="1525026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F00FB9-62E8-43DE-8B6E-A84AF3FE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190"/>
          </a:bodyPr>
          <a:lstStyle xmlns:a="http://schemas.openxmlformats.org/drawingml/2006/main">
            <a:defPPr algn="l">
              <a:defRPr sz="315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Objectives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6FE0E4-EC8E-495E-B268-1F3CB79F1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1101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solidFill>
              <a:srgbClr val="17365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003B53-26CE-4894-8BCD-029C0D1B5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>
            <a:defPPr algn="r">
              <a:def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02F55B-4C6D-4372-884E-B9FF27FB5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76350"/>
            <a:ext cx="590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2250" b="1">
                <a:solidFill>
                  <a:srgbClr val="2F6B4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2F6B4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2F6B4F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5A2D2B-613C-485E-8F04-87A3B9642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200150"/>
            <a:ext cx="542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>
            <a:defPPr algn="l">
              <a:defRPr sz="1875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Acquire and clean historical market prices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F4CAF1-DE32-4A12-B4BA-8639B678E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7162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>
            <a:defPPr algn="l">
              <a:defRPr sz="15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rPr>
              <a:t>7,794 validated market-day records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EBB8D1-EFA2-482F-BC05-DE64BD3DF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914525"/>
            <a:ext cx="895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solidFill>
              <a:srgbClr val="D8DE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F4BCF5-6D63-47D3-ACF8-B8F7D8364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590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2250" b="1">
                <a:solidFill>
                  <a:srgbClr val="2F6B4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2F6B4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2F6B4F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E426F9-7347-4A6F-AF5A-0BA897F50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14550"/>
            <a:ext cx="542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>
            <a:defPPr algn="l">
              <a:defRPr sz="1875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Characterize trends and reporting coverage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28785D-CE1D-45C2-984B-B8B794C4A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8602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>
            <a:defPPr algn="l">
              <a:defRPr sz="15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rPr>
              <a:t>Existing exploratory dashboard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9053EF-7B27-48ED-AFDA-16E09567B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28925"/>
            <a:ext cx="895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solidFill>
              <a:srgbClr val="D8DE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1A1519-E224-4B97-852A-F3B376390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05150"/>
            <a:ext cx="590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2250" b="1">
                <a:solidFill>
                  <a:srgbClr val="2F6B4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2F6B4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2F6B4F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0DBFEB-0698-426D-A268-AE73A3865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28950"/>
            <a:ext cx="542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>
            <a:defPPr algn="l">
              <a:defRPr sz="1875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Analyze integration and price transmission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19F3F3-EC1E-42AF-8887-4BFA79EC9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0042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>
            <a:defPPr algn="l">
              <a:defRPr sz="15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rPr>
              <a:t>Lead-lag, network and geography modules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09B71E-86E7-4A6D-AC44-9AE49376D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43325"/>
            <a:ext cx="895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solidFill>
              <a:srgbClr val="D8DE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7ABB59-9410-499B-AF3A-DFFBCB8D9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19550"/>
            <a:ext cx="590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2250" b="1">
                <a:solidFill>
                  <a:srgbClr val="2F6B4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2F6B4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2F6B4F"/>
                </a:solidFill>
                <a:latin typeface="Times New Roman"/>
                <a:ea typeface="Times New Roman"/>
                <a:cs typeface="Times New Roman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EADBB7-B6EE-4445-81F2-16327911E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43350"/>
            <a:ext cx="542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>
            <a:defPPr algn="l">
              <a:defRPr sz="1875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Develop and compare forecasting models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CA239F-778D-45E5-BDEC-B34CB787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1482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>
            <a:defPPr algn="l">
              <a:defRPr sz="15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rPr>
              <a:t>Six candidates on a common temporal cohort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1868DF-4976-4A3A-B73F-576DA686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57725"/>
            <a:ext cx="895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solidFill>
              <a:srgbClr val="D8DE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0C9B17-3642-49EF-A637-6180566EE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33950"/>
            <a:ext cx="590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2250" b="1">
                <a:solidFill>
                  <a:srgbClr val="2F6B4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2F6B4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2F6B4F"/>
                </a:solidFill>
                <a:latin typeface="Times New Roman"/>
                <a:ea typeface="Times New Roman"/>
                <a:cs typeface="Times New Roman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5DB835-9862-4154-A85C-7CE6946E2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57750"/>
            <a:ext cx="542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>
            <a:defPPr algn="l">
              <a:defRPr sz="1875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Deliver a reproducible analytical dashboard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B99D0F-4285-49D7-8335-C5F709885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2922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>
            <a:defPPr algn="l">
              <a:defRPr sz="15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rPr>
              <a:t>Offline training, saved inference and evidence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121D74-566B-47EE-971B-8053FF960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72125"/>
            <a:ext cx="895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solidFill>
              <a:srgbClr val="D8DEE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209569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4FEBE9-B588-4764-8131-DE181D612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190"/>
          </a:bodyPr>
          <a:lstStyle xmlns:a="http://schemas.openxmlformats.org/drawingml/2006/main">
            <a:defPPr algn="l">
              <a:defRPr sz="315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Proposed Solution and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45FBB0-855A-445B-9780-1819098C1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1101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solidFill>
              <a:srgbClr val="17365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4BF069-AB80-4E53-A41F-F5383E3A1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>
            <a:defPPr algn="r">
              <a:def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4E0E25-A850-425C-88F0-1A5F1A28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38300"/>
            <a:ext cx="1200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0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Historical</a:t>
            </a:r>
          </a:p>
          <a:p xmlns:a="http://schemas.openxmlformats.org/drawingml/2006/main">
            <a:pPr algn="ctr">
              <a:defRPr sz="1425" b="1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market 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0DE38E-5D05-4248-848C-731D5BC82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638300"/>
            <a:ext cx="1200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42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Validation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F89C00-2286-44CB-9283-A847443F2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638300"/>
            <a:ext cx="1200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0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42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Preprocessing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A28621-48E7-4C84-A65E-6EDEB9593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638300"/>
            <a:ext cx="1200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42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Feature</a:t>
            </a:r>
          </a:p>
          <a:p xmlns:a="http://schemas.openxmlformats.org/drawingml/2006/main">
            <a:pPr algn="ctr">
              <a:defRPr sz="142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engineering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4AAB05-03B0-4C8C-A37C-5C2498923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38300"/>
            <a:ext cx="1200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0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42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Model</a:t>
            </a:r>
          </a:p>
          <a:p xmlns:a="http://schemas.openxmlformats.org/drawingml/2006/main">
            <a:pPr algn="ctr">
              <a:defRPr sz="142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C6E610-5D8A-45E3-AE4F-63287B0D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638300"/>
            <a:ext cx="1200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42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Temporal</a:t>
            </a:r>
          </a:p>
          <a:p xmlns:a="http://schemas.openxmlformats.org/drawingml/2006/main">
            <a:pPr algn="ctr">
              <a:defRPr sz="142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evaluation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C8AE5C-DC64-4E85-8B67-FA7CDC1A4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638300"/>
            <a:ext cx="1200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0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42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Model</a:t>
            </a:r>
          </a:p>
          <a:p xmlns:a="http://schemas.openxmlformats.org/drawingml/2006/main">
            <a:pPr algn="ctr">
              <a:defRPr sz="142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selection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8154BC-EF70-4756-9FA7-DDEECDD4D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1638300"/>
            <a:ext cx="1200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6B4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Forecasting</a:t>
            </a:r>
          </a:p>
          <a:p xmlns:a="http://schemas.openxmlformats.org/drawingml/2006/main">
            <a:pPr algn="ctr">
              <a:defRPr sz="1425" b="1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dashboard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83EE39-20FE-4460-A15C-652E9E31E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241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>
            <a:defPPr algn="ctr">
              <a:defRPr sz="1350" b="1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2F9FE7-3ED6-487B-AF8C-35293D705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7241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>
            <a:defPPr algn="ctr">
              <a:defRPr sz="1350" b="1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B42D82-0110-4C66-BE02-E5FC461C7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7241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>
            <a:defPPr algn="ctr">
              <a:defRPr sz="1350" b="1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1D83EC-BDD3-464E-A6C8-E39B37E7B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241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>
            <a:defPPr algn="ctr">
              <a:defRPr sz="1350" b="1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5526E7-8089-43BA-990C-F97808348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241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>
            <a:defPPr algn="ctr">
              <a:defRPr sz="1350" b="1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57A29B-6FB0-4400-B3C3-C8AD10082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7241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>
            <a:defPPr algn="ctr">
              <a:defRPr sz="1350" b="1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rPr>
              <a:t>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6B8D2C-CF44-4BA9-AED9-62A0C6FAC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7241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>
            <a:defPPr algn="ctr">
              <a:defRPr sz="1350" b="1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rPr>
              <a:t>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2A9AC7-9EC2-4DC9-B040-EC4CC7013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27241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>
            <a:defPPr algn="ctr">
              <a:defRPr sz="1350" b="1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rPr>
              <a:t>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257C7E-2CED-4AEF-B4F9-1FB7F67A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1475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6B4F"/>
            </a:solidFill>
            <a:prstDash val="solid"/>
          </a:ln>
        </p:spPr>
        <p:txBody>
          <a:bodyPr xmlns:a="http://schemas.openxmlformats.org/drawingml/2006/main" anchor="ctr">
            <a:normAutofit fontScale="99242"/>
          </a:bodyPr>
          <a:lstStyle xmlns:a="http://schemas.openxmlformats.org/drawingml/2006/main">
            <a:defPPr algn="ctr">
              <a:defRPr sz="1650" b="1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Existing analytical branch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0429E2-09D0-489C-B65E-963B0C4F5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476625"/>
            <a:ext cx="2171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0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00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Trends and coverage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1593B7-C721-41DC-9DCE-7E71A37EB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124325"/>
            <a:ext cx="2171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0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00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Lead-lag and network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B11FB3-9D07-4D25-B26F-0985DDA34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7662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0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00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Geography and integration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D49CCB-8A19-48DC-BB98-39013C3D7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12432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0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00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Quality and research status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F631D1-8869-495A-B0EC-78629A92D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rPr>
              <a:t>All normal execution paths use local files. No cloud service, live market API or training inside dashboard callbacks is required.</a:t>
            </a:r>
          </a:p>
        </p:txBody>
      </p:sp>
    </p:spTree>
    <p:extLst>
      <p:ext uri="{BB962C8B-B14F-4D97-AF65-F5344CB8AC3E}">
        <p14:creationId xmlns:p14="http://schemas.microsoft.com/office/powerpoint/2010/main" val="2432908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97A683-530A-4A22-A98A-E64D94CB1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190"/>
          </a:bodyPr>
          <a:lstStyle xmlns:a="http://schemas.openxmlformats.org/drawingml/2006/main">
            <a:defPPr algn="l">
              <a:defRPr sz="315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Dataset Description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D30C3D-A7F8-4E58-83D9-8466DC7BF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1101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solidFill>
              <a:srgbClr val="17365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094651-024E-4FDF-A8F5-31CD621C5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>
            <a:defPPr algn="r">
              <a:def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rPr>
              <a:t>05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318844-9C21-456A-90BA-541D9CAC0F51}"/>
              </a:ext>
            </a:extLst>
          </p:cNvPr>
          <p:cNvGraphicFramePr/>
          <p:nvPr/>
        </p:nvGraphicFramePr>
        <p:xfrm>
          <a:off xmlns:a="http://schemas.openxmlformats.org/drawingml/2006/main" x="590550" y="1200150"/>
          <a:ext xmlns:a="http://schemas.openxmlformats.org/drawingml/2006/main" cx="542925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3810000"/>
              </a:tblGrid>
              <a:tr h="612321">
                <a:tc>
                  <a:txBody>
                    <a:bodyPr/>
                    <a:lstStyle/>
                    <a:p>
                      <a:r>
                        <a:t>Field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T w="9525">
                      <a:solidFill>
                        <a:srgbClr val="D8DEE6"/>
                      </a:solidFill>
                      <a:prstDash val="solid"/>
                    </a:lnT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Observed scope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T w="9525">
                      <a:solidFill>
                        <a:srgbClr val="D8DEE6"/>
                      </a:solidFill>
                      <a:prstDash val="solid"/>
                    </a:lnT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</a:tr>
              <a:tr h="612321">
                <a:tc>
                  <a:txBody>
                    <a:bodyPr/>
                    <a:lstStyle/>
                    <a:p>
                      <a:r>
                        <a:t>Source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CEDA Agri Market Data / AGMARKNET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</a:tr>
              <a:tr h="612321">
                <a:tc>
                  <a:txBody>
                    <a:bodyPr/>
                    <a:lstStyle/>
                    <a:p>
                      <a:r>
                        <a:t>Commodity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Onion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</a:tr>
              <a:tr h="612321">
                <a:tc>
                  <a:txBody>
                    <a:bodyPr/>
                    <a:lstStyle/>
                    <a:p>
                      <a:r>
                        <a:t>Coverage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Maharashtra; 4 districts; 25 markets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</a:tr>
              <a:tr h="612321">
                <a:tc>
                  <a:txBody>
                    <a:bodyPr/>
                    <a:lstStyle/>
                    <a:p>
                      <a:r>
                        <a:t>Rows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8,499 raw; 7,794 processed market-days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</a:tr>
              <a:tr h="612321">
                <a:tc>
                  <a:txBody>
                    <a:bodyPr/>
                    <a:lstStyle/>
                    <a:p>
                      <a:r>
                        <a:t>Dates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01 Jan 2023 to 30 Oct 2025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</a:tr>
              <a:tr h="612321">
                <a:tc>
                  <a:txBody>
                    <a:bodyPr/>
                    <a:lstStyle/>
                    <a:p>
                      <a:r>
                        <a:t>Target and unit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modal_price; INR per quintal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55ACD84A-D6F3-468B-A341-2A389B5CEF22}"/>
              </a:ext>
            </a:extLst>
          </p:cNvPr>
          <p:cNvGraphicFramePr/>
          <p:nvPr/>
        </p:nvGraphicFramePr>
        <p:xfrm>
          <a:off xmlns:a="http://schemas.openxmlformats.org/drawingml/2006/main" x="6429375" y="1285875"/>
          <a:ext xmlns:a="http://schemas.openxmlformats.org/drawingml/2006/main" cx="504825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190704a0746479b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EDBEBE-BA3A-4BC7-B187-53EB7070C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rPr>
              <a:t>Experimental evidence covers Maharashtra only. The India map remains a visualization capability, not a claim of national experimental coverage.</a:t>
            </a:r>
          </a:p>
        </p:txBody>
      </p:sp>
    </p:spTree>
    <p:extLst>
      <p:ext uri="{BB962C8B-B14F-4D97-AF65-F5344CB8AC3E}">
        <p14:creationId xmlns:p14="http://schemas.microsoft.com/office/powerpoint/2010/main" val="21164296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341B66-A504-4079-9C4D-55120F06E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190"/>
          </a:bodyPr>
          <a:lstStyle xmlns:a="http://schemas.openxmlformats.org/drawingml/2006/main">
            <a:defPPr algn="l">
              <a:defRPr sz="315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Data Preprocessing and Exploratory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E52293-CE8B-46E4-97BB-B8220837E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1101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solidFill>
              <a:srgbClr val="17365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7E3EB9-AE5B-4553-B294-58B688388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>
            <a:defPPr algn="r">
              <a:def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521874-C1C2-4AB7-8DCD-8C66D6F74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19200"/>
            <a:ext cx="40005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65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marL="254000" indent="-127000">
              <a:spcAft>
                <a:spcPts val="900"/>
              </a:spcAft>
              <a:buChar char="•"/>
              <a:defRPr sz="165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Parsed dates and enforced positive numeric modal prices.</a:t>
            </a:r>
          </a:p>
          <a:p xmlns:a="http://schemas.openxmlformats.org/drawingml/2006/main">
            <a:pPr marL="254000" indent="-127000">
              <a:spcAft>
                <a:spcPts val="900"/>
              </a:spcAft>
              <a:buChar char="•"/>
              <a:defRPr sz="165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Removed duplicate market-date-commodity targets; none remained.</a:t>
            </a:r>
          </a:p>
          <a:p xmlns:a="http://schemas.openxmlformats.org/drawingml/2006/main">
            <a:pPr marL="254000" indent="-127000">
              <a:spcAft>
                <a:spcPts val="900"/>
              </a:spcAft>
              <a:buChar char="•"/>
              <a:defRPr sz="165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Kept missing reports absent rather than filling prices with zero.</a:t>
            </a:r>
          </a:p>
          <a:p xmlns:a="http://schemas.openxmlformats.org/drawingml/2006/main">
            <a:pPr marL="254000" indent="-127000">
              <a:spcAft>
                <a:spcPts val="900"/>
              </a:spcAft>
              <a:buChar char="•"/>
              <a:defRPr sz="165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Built market-specific lags and shifted rolling statistics.</a:t>
            </a:r>
          </a:p>
          <a:p xmlns:a="http://schemas.openxmlformats.org/drawingml/2006/main">
            <a:pPr marL="254000" indent="-127000">
              <a:spcAft>
                <a:spcPts val="900"/>
              </a:spcAft>
              <a:buChar char="•"/>
              <a:defRPr sz="165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Excluded 322 rows lacking complete 14-report history.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A5352C4D-147A-420E-86C2-30DCCD5DF966}"/>
              </a:ext>
            </a:extLst>
          </p:cNvPr>
          <p:cNvGraphicFramePr/>
          <p:nvPr/>
        </p:nvGraphicFramePr>
        <p:xfrm>
          <a:off xmlns:a="http://schemas.openxmlformats.org/drawingml/2006/main" x="4762500" y="1200150"/>
          <a:ext xmlns:a="http://schemas.openxmlformats.org/drawingml/2006/main" cx="66675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9246bcb4f424bcf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B7EC86-C2A4-4F6F-B82A-F3F16B39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rPr>
              <a:t>Observed row flow: 8,499 raw checkpoint rows to 7,794 processed market-days to 7,378 modeling rows across 23 eligible markets.</a:t>
            </a:r>
          </a:p>
        </p:txBody>
      </p:sp>
    </p:spTree>
    <p:extLst>
      <p:ext uri="{BB962C8B-B14F-4D97-AF65-F5344CB8AC3E}">
        <p14:creationId xmlns:p14="http://schemas.microsoft.com/office/powerpoint/2010/main" val="12470037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B16C99-2F58-406F-A6D3-28F9ACE4C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190"/>
          </a:bodyPr>
          <a:lstStyle xmlns:a="http://schemas.openxmlformats.org/drawingml/2006/main">
            <a:defPPr algn="l">
              <a:defRPr sz="315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Methodology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6D667B-FEC8-40BB-B352-D31A8BAEC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1101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solidFill>
              <a:srgbClr val="17365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2AACE4-D2C3-45D4-9DF5-D4C6C3B5D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>
            <a:defPPr algn="r">
              <a:def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F99DE4-4361-4599-9D98-CF79A1230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>
            <a:defPPr algn="l">
              <a:defRPr sz="1650" b="1">
                <a:solidFill>
                  <a:srgbClr val="2F6B4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F6B4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2F6B4F"/>
                </a:solidFill>
                <a:latin typeface="Times New Roman"/>
                <a:ea typeface="Times New Roman"/>
                <a:cs typeface="Times New Roman"/>
              </a:rPr>
              <a:t>Forecast horizon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ABC82C-BC0F-4D94-B381-69666F568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Next reported market observation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9F256F-5994-410D-A052-FC4988746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TRAIN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6FE67C-373C-4884-9F9E-1EDD86E75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>
            <a:defPPr algn="ctr">
              <a:defRPr sz="1500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through 13 Jan 2025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D1F253-6586-4D02-BB6B-6643AA37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052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>
            <a:defPPr algn="ctr">
              <a:defRPr sz="1425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425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rPr>
              <a:t>5,199 rows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2D5F97-25F6-4DE0-BF55-8622FFCE1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5745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VALIDATE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6973A3-16FF-4966-9443-8731B1BCA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143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>
            <a:defPPr algn="ctr">
              <a:defRPr sz="1500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14 Jan to 07 Jun 2025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24E335-5EC7-4A11-9EDC-98BDC83AC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5052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>
            <a:defPPr algn="ctr">
              <a:defRPr sz="1425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425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rPr>
              <a:t>1,106 rows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FF5459-F724-4202-8718-F650D325A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45745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0"/>
          </a:solidFill>
          <a:ln xmlns:a="http://schemas.openxmlformats.org/drawingml/2006/main" w="9525">
            <a:solidFill>
              <a:srgbClr val="2F6B4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1A0A99-F3CB-476D-A7FA-CBED85D4C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43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>
            <a:defPPr algn="ctr">
              <a:defRPr sz="1500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08 Jun to 30 Oct 2025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7D49A0-CE1C-4168-A860-8D4B7A3A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5052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>
            <a:defPPr algn="ctr">
              <a:defRPr sz="1425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425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rPr>
              <a:t>1,073 rows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AAB248-494C-441B-A43A-0CAFB5F4A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05300"/>
            <a:ext cx="10096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57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marL="254000" indent="-127000">
              <a:spcAft>
                <a:spcPts val="600"/>
              </a:spcAft>
              <a:buChar char="•"/>
              <a:defRPr sz="157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Global target-date boundaries prevent later targets from entering training.</a:t>
            </a:r>
          </a:p>
          <a:p xmlns:a="http://schemas.openxmlformats.org/drawingml/2006/main">
            <a:pPr marL="254000" indent="-127000">
              <a:spcAft>
                <a:spcPts val="600"/>
              </a:spcAft>
              <a:buChar char="•"/>
              <a:defRPr sz="157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Every rolling feature uses a one-observation shift within its market.</a:t>
            </a:r>
          </a:p>
          <a:p xmlns:a="http://schemas.openxmlformats.org/drawingml/2006/main">
            <a:pPr marL="254000" indent="-127000">
              <a:spcAft>
                <a:spcPts val="600"/>
              </a:spcAft>
              <a:buChar char="•"/>
              <a:defRPr sz="157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Validation MAE selects the model; validation RMSE resolves ties.</a:t>
            </a:r>
          </a:p>
          <a:p xmlns:a="http://schemas.openxmlformats.org/drawingml/2006/main">
            <a:pPr marL="254000" indent="-127000">
              <a:spcAft>
                <a:spcPts val="600"/>
              </a:spcAft>
              <a:buChar char="•"/>
              <a:defRPr sz="157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The held-out test set supports the final comparison only after selection.</a:t>
            </a:r>
          </a:p>
        </p:txBody>
      </p:sp>
    </p:spTree>
    <p:extLst>
      <p:ext uri="{BB962C8B-B14F-4D97-AF65-F5344CB8AC3E}">
        <p14:creationId xmlns:p14="http://schemas.microsoft.com/office/powerpoint/2010/main" val="18002938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160666-7706-4A3A-8AD3-C7126138A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190"/>
          </a:bodyPr>
          <a:lstStyle xmlns:a="http://schemas.openxmlformats.org/drawingml/2006/main">
            <a:defPPr algn="l">
              <a:defRPr sz="315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Model Implementation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DCC78E-CEAF-4026-BBBD-1070E822B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1101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solidFill>
              <a:srgbClr val="17365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29320A-6306-470B-8C95-838061B85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>
            <a:defPPr algn="r">
              <a:def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rPr>
              <a:t>08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F150FC-178B-44E0-A071-757BB37492A9}"/>
              </a:ext>
            </a:extLst>
          </p:cNvPr>
          <p:cNvGraphicFramePr/>
          <p:nvPr/>
        </p:nvGraphicFramePr>
        <p:xfrm>
          <a:off xmlns:a="http://schemas.openxmlformats.org/drawingml/2006/main" x="495300" y="1200150"/>
          <a:ext xmlns:a="http://schemas.openxmlformats.org/drawingml/2006/main" cx="11201400" cy="4476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1219200"/>
                <a:gridCol w="2952750"/>
                <a:gridCol w="2476500"/>
                <a:gridCol w="2552700"/>
              </a:tblGrid>
              <a:tr h="639536">
                <a:tc>
                  <a:txBody>
                    <a:bodyPr/>
                    <a:lstStyle/>
                    <a:p>
                      <a:r>
                        <a:t>Model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T w="9525">
                      <a:solidFill>
                        <a:srgbClr val="D8DEE6"/>
                      </a:solidFill>
                      <a:prstDash val="solid"/>
                    </a:lnT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Category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T w="9525">
                      <a:solidFill>
                        <a:srgbClr val="D8DEE6"/>
                      </a:solidFill>
                      <a:prstDash val="solid"/>
                    </a:lnT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Principal parameters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T w="9525">
                      <a:solidFill>
                        <a:srgbClr val="D8DEE6"/>
                      </a:solidFill>
                      <a:prstDash val="solid"/>
                    </a:lnT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Advantage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T w="9525">
                      <a:solidFill>
                        <a:srgbClr val="D8DEE6"/>
                      </a:solidFill>
                      <a:prstDash val="solid"/>
                    </a:lnT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Drawback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T w="9525">
                      <a:solidFill>
                        <a:srgbClr val="D8DEE6"/>
                      </a:solidFill>
                      <a:prstDash val="solid"/>
                    </a:lnT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</a:tr>
              <a:tr h="639536">
                <a:tc>
                  <a:txBody>
                    <a:bodyPr/>
                    <a:lstStyle/>
                    <a:p>
                      <a:r>
                        <a:t>M0 Persistence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Baseline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prediction = lag 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Strong local benchmark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Cannot anticipate turning points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</a:tr>
              <a:tr h="639536">
                <a:tc>
                  <a:txBody>
                    <a:bodyPr/>
                    <a:lstStyle/>
                    <a:p>
                      <a:r>
                        <a:t>M1 Lag-7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Baseline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prediction = lag 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Simple longer memory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Ignores recent reports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</a:tr>
              <a:tr h="639536">
                <a:tc>
                  <a:txBody>
                    <a:bodyPr/>
                    <a:lstStyle/>
                    <a:p>
                      <a:r>
                        <a:t>M2 Ridge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Linear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alpha 1.0; scaled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Stable and interpretable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Linear response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</a:tr>
              <a:tr h="639536">
                <a:tc>
                  <a:txBody>
                    <a:bodyPr/>
                    <a:lstStyle/>
                    <a:p>
                      <a:r>
                        <a:t>M3 Decision Tree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Tree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depth 8; leaf 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Nonlinear rules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Overfitting risk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</a:tr>
              <a:tr h="639536">
                <a:tc>
                  <a:txBody>
                    <a:bodyPr/>
                    <a:lstStyle/>
                    <a:p>
                      <a:r>
                        <a:t>M4 Random Forest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Ensemble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200 trees; depth 12; leaf 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Robust nonlinear fit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Less transparent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</a:tr>
              <a:tr h="639536">
                <a:tc>
                  <a:txBody>
                    <a:bodyPr/>
                    <a:lstStyle/>
                    <a:p>
                      <a:r>
                        <a:t>M5 Hist Gradient Boosting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Boosting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150 iterations; rate 0.05; 15 leaves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Efficient nonlinear model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Sensitive to drift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D5E0C4-639F-4987-B11A-E2A7EBBAA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rPr>
              <a:t>Python 3.12; pandas 2.3.3; NumPy 2.5.3; scikit-learn 1.9.1; deterministic seed 42.</a:t>
            </a:r>
          </a:p>
        </p:txBody>
      </p:sp>
    </p:spTree>
    <p:extLst>
      <p:ext uri="{BB962C8B-B14F-4D97-AF65-F5344CB8AC3E}">
        <p14:creationId xmlns:p14="http://schemas.microsoft.com/office/powerpoint/2010/main" val="68888014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93EAAA-2641-46A3-96FA-A06D41C13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190"/>
          </a:bodyPr>
          <a:lstStyle xmlns:a="http://schemas.openxmlformats.org/drawingml/2006/main">
            <a:defPPr algn="l">
              <a:defRPr sz="315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Evaluation Metrics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76286F-A3F3-492A-B72F-90DB7FF83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1101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solidFill>
              <a:srgbClr val="17365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F39185-43B8-4009-A32F-A40402EBA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>
            <a:defPPr algn="r">
              <a:def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rPr>
              <a:t>09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3114E6-5FDF-4F28-9A81-3A1C67918A16}"/>
              </a:ext>
            </a:extLst>
          </p:cNvPr>
          <p:cNvGraphicFramePr/>
          <p:nvPr/>
        </p:nvGraphicFramePr>
        <p:xfrm>
          <a:off xmlns:a="http://schemas.openxmlformats.org/drawingml/2006/main" x="590550" y="1143000"/>
          <a:ext xmlns:a="http://schemas.openxmlformats.org/drawingml/2006/main" cx="6858000" cy="4810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2857500"/>
                <a:gridCol w="2190750"/>
              </a:tblGrid>
              <a:tr h="437284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T w="9525">
                      <a:solidFill>
                        <a:srgbClr val="D8DEE6"/>
                      </a:solidFill>
                      <a:prstDash val="solid"/>
                    </a:lnT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Definition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T w="9525">
                      <a:solidFill>
                        <a:srgbClr val="D8DEE6"/>
                      </a:solidFill>
                      <a:prstDash val="solid"/>
                    </a:lnT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Unit / preferred direction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T w="9525">
                      <a:solidFill>
                        <a:srgbClr val="D8DEE6"/>
                      </a:solidFill>
                      <a:prstDash val="solid"/>
                    </a:lnT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</a:tr>
              <a:tr h="437284">
                <a:tc>
                  <a:txBody>
                    <a:bodyPr/>
                    <a:lstStyle/>
                    <a:p>
                      <a:r>
                        <a:t>MAE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mean absolute error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INR/q; lower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</a:tr>
              <a:tr h="437284">
                <a:tc>
                  <a:txBody>
                    <a:bodyPr/>
                    <a:lstStyle/>
                    <a:p>
                      <a:r>
                        <a:t>MSE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mean squared error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squared INR/q; lower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</a:tr>
              <a:tr h="437284">
                <a:tc>
                  <a:txBody>
                    <a:bodyPr/>
                    <a:lstStyle/>
                    <a:p>
                      <a:r>
                        <a:t>RMSE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square root of MSE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INR/q; lower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</a:tr>
              <a:tr h="437284">
                <a:tc>
                  <a:txBody>
                    <a:bodyPr/>
                    <a:lstStyle/>
                    <a:p>
                      <a:r>
                        <a:t>R-squared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1 - SSE/SST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unitless; higher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</a:tr>
              <a:tr h="437284">
                <a:tc>
                  <a:txBody>
                    <a:bodyPr/>
                    <a:lstStyle/>
                    <a:p>
                      <a:r>
                        <a:t>MAPE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mean absolute percentage error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percent; lower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</a:tr>
              <a:tr h="437284">
                <a:tc>
                  <a:txBody>
                    <a:bodyPr/>
                    <a:lstStyle/>
                    <a:p>
                      <a:r>
                        <a:t>sMAPE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symmetric percentage error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percent; lower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</a:tr>
              <a:tr h="437284">
                <a:tc>
                  <a:txBody>
                    <a:bodyPr/>
                    <a:lstStyle/>
                    <a:p>
                      <a:r>
                        <a:t>WAPE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weighted absolute percentage error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percent; lower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</a:tr>
              <a:tr h="437284">
                <a:tc>
                  <a:txBody>
                    <a:bodyPr/>
                    <a:lstStyle/>
                    <a:p>
                      <a:r>
                        <a:t>Median AE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median absolute error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INR/q; lower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</a:tr>
              <a:tr h="437284">
                <a:tc>
                  <a:txBody>
                    <a:bodyPr/>
                    <a:lstStyle/>
                    <a:p>
                      <a:r>
                        <a:t>Mean bias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mean(predicted - actual)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INR/q; near zero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</a:tr>
              <a:tr h="437284">
                <a:tc>
                  <a:txBody>
                    <a:bodyPr/>
                    <a:lstStyle/>
                    <a:p>
                      <a:r>
                        <a:t>Directional accuracy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matching movement signs vs lag 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percent; higher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5B6652-12D5-4E18-9144-9F94B95F8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466850"/>
            <a:ext cx="3238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0"/>
          </a:solidFill>
          <a:ln xmlns:a="http://schemas.openxmlformats.org/drawingml/2006/main" w="9525">
            <a:solidFill>
              <a:srgbClr val="2F6B4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650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MAE = mean(|y - yhat|)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EF1C71-1FE3-4DE6-8448-6BF4D91D0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66950"/>
            <a:ext cx="3238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7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RMSE = sqrt(mean((y - yhat)^2))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F53D85-86F0-4F3B-9662-A46DDBAEF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43250"/>
            <a:ext cx="3238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0"/>
          </a:solidFill>
          <a:ln xmlns:a="http://schemas.openxmlformats.org/drawingml/2006/main" w="9525">
            <a:solidFill>
              <a:srgbClr val="2F6B4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00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MAPE = 100 mean(|(y - yhat) / y|)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646142-7B5B-4E73-B83E-8065B1A79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19550"/>
            <a:ext cx="3238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7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Direction = sign(price - lag 1)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C1ADFF-6DCF-47FB-8EC3-CC1427F27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010150"/>
            <a:ext cx="323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2540"/>
          </a:bodyPr>
          <a:lstStyle xmlns:a="http://schemas.openxmlformats.org/drawingml/2006/main">
            <a:defPPr algn="ctr">
              <a:defRPr sz="1575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Selection rule</a:t>
            </a:r>
          </a:p>
          <a:p xmlns:a="http://schemas.openxmlformats.org/drawingml/2006/main">
            <a:pPr algn="ctr">
              <a:defRPr sz="1575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Lowest validation MAE; validation RMSE breaks ties</a:t>
            </a:r>
          </a:p>
        </p:txBody>
      </p:sp>
    </p:spTree>
    <p:extLst>
      <p:ext uri="{BB962C8B-B14F-4D97-AF65-F5344CB8AC3E}">
        <p14:creationId xmlns:p14="http://schemas.microsoft.com/office/powerpoint/2010/main" val="191814435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7B1D7A-EA44-487B-BE91-13522E761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190"/>
          </a:bodyPr>
          <a:lstStyle xmlns:a="http://schemas.openxmlformats.org/drawingml/2006/main">
            <a:defPPr algn="l">
              <a:defRPr sz="315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Model Performance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C11AE5-C7FF-4CCC-8FC8-95799117A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1101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solidFill>
              <a:srgbClr val="17365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CB7AF3-01D8-4CC2-89EA-6E295E82A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>
            <a:defPPr algn="r">
              <a:def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rPr>
              <a:t>10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D7FFFA35-78C8-41A0-8924-D1935FB3C23F}"/>
              </a:ext>
            </a:extLst>
          </p:cNvPr>
          <p:cNvGraphicFramePr/>
          <p:nvPr/>
        </p:nvGraphicFramePr>
        <p:xfrm>
          <a:off xmlns:a="http://schemas.openxmlformats.org/drawingml/2006/main" x="533400" y="1181100"/>
          <a:ext xmlns:a="http://schemas.openxmlformats.org/drawingml/2006/main" cx="5286375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c9fcb93caca4975"/>
          </a:graphicData>
        </a:graphic>
      </p:graphicFrame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A51A0B44-6C70-45C1-BFEC-0EC3BA68E2D1}"/>
              </a:ext>
            </a:extLst>
          </p:cNvPr>
          <p:cNvGraphicFramePr/>
          <p:nvPr/>
        </p:nvGraphicFramePr>
        <p:xfrm>
          <a:off xmlns:a="http://schemas.openxmlformats.org/drawingml/2006/main" x="6115050" y="1181100"/>
          <a:ext xmlns:a="http://schemas.openxmlformats.org/drawingml/2006/main" cx="5286375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9f6eb85f5264e29"/>
          </a:graphicData>
        </a:graphic>
      </p:graphicFrame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7D1E3D-567F-4202-B1EC-95D937E60268}"/>
              </a:ext>
            </a:extLst>
          </p:cNvPr>
          <p:cNvGraphicFramePr/>
          <p:nvPr/>
        </p:nvGraphicFramePr>
        <p:xfrm>
          <a:off xmlns:a="http://schemas.openxmlformats.org/drawingml/2006/main" x="1924050" y="4305300"/>
          <a:ext xmlns:a="http://schemas.openxmlformats.org/drawingml/2006/main" cx="8343900" cy="142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4248150"/>
              </a:tblGrid>
              <a:tr h="285750">
                <a:tc>
                  <a:txBody>
                    <a:bodyPr/>
                    <a:lstStyle/>
                    <a:p>
                      <a:r>
                        <a:t>Validation-selected model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T w="9525">
                      <a:solidFill>
                        <a:srgbClr val="D8DEE6"/>
                      </a:solidFill>
                      <a:prstDash val="solid"/>
                    </a:lnT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M0 Persistence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T w="9525">
                      <a:solidFill>
                        <a:srgbClr val="D8DEE6"/>
                      </a:solidFill>
                      <a:prstDash val="solid"/>
                    </a:lnT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r>
                        <a:t>Validation MAE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128.2 INR/q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r>
                        <a:t>Held-out test MAE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101.4 INR/q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r>
                        <a:t>Held-out test RMSE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181.0 INR/q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r>
                        <a:t>Improvement vs persistence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7303E7-3EE9-499F-B90D-A021C5276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rPr>
              <a:t>Persistence won the validation rule. No machine-learning candidate improved the selected validation MAE; the baseline therefore remains the preferred model.</a:t>
            </a:r>
          </a:p>
        </p:txBody>
      </p:sp>
    </p:spTree>
    <p:extLst>
      <p:ext uri="{BB962C8B-B14F-4D97-AF65-F5344CB8AC3E}">
        <p14:creationId xmlns:p14="http://schemas.microsoft.com/office/powerpoint/2010/main" val="91643183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A551D1-61AF-460B-9400-15F6741C5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190"/>
          </a:bodyPr>
          <a:lstStyle xmlns:a="http://schemas.openxmlformats.org/drawingml/2006/main">
            <a:defPPr algn="l">
              <a:defRPr sz="315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Prediction Results and Diagnostics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9A0BF0-3976-4541-978D-F7FED83D6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1101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solidFill>
              <a:srgbClr val="17365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1FC92D-7490-46CC-AA1F-6E168EADC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>
            <a:defPPr algn="r">
              <a:def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rPr>
              <a:t>11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CE328D7E-1448-455D-9E3F-0DB280421B52}"/>
              </a:ext>
            </a:extLst>
          </p:cNvPr>
          <p:cNvGraphicFramePr/>
          <p:nvPr/>
        </p:nvGraphicFramePr>
        <p:xfrm>
          <a:off xmlns:a="http://schemas.openxmlformats.org/drawingml/2006/main" x="381000" y="1162050"/>
          <a:ext xmlns:a="http://schemas.openxmlformats.org/drawingml/2006/main" cx="55245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ac04ea989784b36"/>
          </a:graphicData>
        </a:graphic>
      </p:graphicFrame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D0D09B17-3DA0-41F0-8558-CA8D9C8BC6D7}"/>
              </a:ext>
            </a:extLst>
          </p:cNvPr>
          <p:cNvGraphicFramePr/>
          <p:nvPr/>
        </p:nvGraphicFramePr>
        <p:xfrm>
          <a:off xmlns:a="http://schemas.openxmlformats.org/drawingml/2006/main" x="6191250" y="1162050"/>
          <a:ext xmlns:a="http://schemas.openxmlformats.org/drawingml/2006/main" cx="53340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64fa5c82b3943f7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8F68BD-8C55-4832-BFC1-929294586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Focus market: Amrawati(Frui &amp; Veg. Market)</a:t>
            </a:r>
          </a:p>
          <a:p xmlns:a="http://schemas.openxmlformats.org/drawingml/2006/main">
            <a:pPr algn="l">
              <a:defRPr sz="157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Test range: 2025-06-08 to 2025-10-30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73833D-CACF-4626-879C-92774C940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577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Mean bias: -1.2 INR/q</a:t>
            </a:r>
          </a:p>
          <a:p xmlns:a="http://schemas.openxmlformats.org/drawingml/2006/main">
            <a:pPr algn="l">
              <a:defRPr sz="157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Median absolute error: 50.0 INR/q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E31330-2543-4C49-9635-BADCB0461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rPr>
              <a:t>Residual convention: predicted price minus actual price. Positive bias indicates overprediction.</a:t>
            </a:r>
          </a:p>
        </p:txBody>
      </p:sp>
    </p:spTree>
    <p:extLst>
      <p:ext uri="{BB962C8B-B14F-4D97-AF65-F5344CB8AC3E}">
        <p14:creationId xmlns:p14="http://schemas.microsoft.com/office/powerpoint/2010/main" val="53671032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D9450A-6032-4D8F-BC50-3401DF7DD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190"/>
          </a:bodyPr>
          <a:lstStyle xmlns:a="http://schemas.openxmlformats.org/drawingml/2006/main">
            <a:defPPr algn="l">
              <a:defRPr sz="315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Application and Demonstration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EE21DC-3951-48DA-85B3-D88E5114F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1101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solidFill>
              <a:srgbClr val="17365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B85187-FCFC-43D6-B5E3-43CA8A450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>
            <a:defPPr algn="r">
              <a:def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rPr>
              <a:t>12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98D1C2-E674-4E31-8AB0-052688779B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22e52ddad4439b"/>
          <a:stretch xmlns:a="http://schemas.openxmlformats.org/drawingml/2006/main"/>
        </p:blipFill>
        <p:spPr>
          <a:xfrm xmlns:a="http://schemas.openxmlformats.org/drawingml/2006/main">
            <a:off x="784860" y="1190625"/>
            <a:ext cx="6240780" cy="4333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0902B3-E617-454B-9F3A-4614384DD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2954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654"/>
          </a:bodyPr>
          <a:lstStyle xmlns:a="http://schemas.openxmlformats.org/drawingml/2006/main">
            <a:defPPr algn="ctr">
              <a:defRPr sz="2025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Saved forecast output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E43E8D-25B1-4873-B89B-17925418C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66900"/>
            <a:ext cx="314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0"/>
          </a:solidFill>
          <a:ln xmlns:a="http://schemas.openxmlformats.org/drawingml/2006/main" w="9525">
            <a:solidFill>
              <a:srgbClr val="2F6B4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Market</a:t>
            </a:r>
          </a:p>
          <a:p xmlns:a="http://schemas.openxmlformats.org/drawingml/2006/main">
            <a:pPr algn="ctr">
              <a:defRPr sz="1650" b="1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Ahmednagar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587832-3E19-4AE7-9C7C-727830FC8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24150"/>
            <a:ext cx="3143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7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Last observation</a:t>
            </a:r>
          </a:p>
          <a:p xmlns:a="http://schemas.openxmlformats.org/drawingml/2006/main">
            <a:pPr algn="ctr">
              <a:defRPr sz="157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2025-10-27 | INR 1150/q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98669D-B438-482C-97AF-7187E1DEA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14750"/>
            <a:ext cx="3143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0"/>
          </a:solidFill>
          <a:ln xmlns:a="http://schemas.openxmlformats.org/drawingml/2006/main" w="9525">
            <a:solidFill>
              <a:srgbClr val="2F6B4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Next-report forecast</a:t>
            </a:r>
          </a:p>
          <a:p xmlns:a="http://schemas.openxmlformats.org/drawingml/2006/main">
            <a:pPr algn="ctr">
              <a:defRPr sz="1725" b="1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INR 1150/q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9CB9FE-4273-4923-B38B-7B3CE5833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87680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57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Model: M0 Persistence</a:t>
            </a:r>
          </a:p>
          <a:p xmlns:a="http://schemas.openxmlformats.org/drawingml/2006/main">
            <a:pPr algn="ctr">
              <a:defRPr sz="157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Held-out MAE: 101.4 INR/q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FA7195-38F0-4F30-AA2E-B2C6D646B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rPr>
              <a:t>The dashboard also retains Overview, India Map, Market Influence, Weather and Crunch, Geography, Data Quality and Research Status views.</a:t>
            </a:r>
          </a:p>
        </p:txBody>
      </p:sp>
    </p:spTree>
    <p:extLst>
      <p:ext uri="{BB962C8B-B14F-4D97-AF65-F5344CB8AC3E}">
        <p14:creationId xmlns:p14="http://schemas.microsoft.com/office/powerpoint/2010/main" val="135687525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90887F-F9C2-4CD9-886B-E6EA3C75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190"/>
          </a:bodyPr>
          <a:lstStyle xmlns:a="http://schemas.openxmlformats.org/drawingml/2006/main">
            <a:defPPr algn="l">
              <a:defRPr sz="315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Challenges, Solutions and Drawbacks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3D3DE4-3C4D-41B2-ABB4-0B26B8022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1101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solidFill>
              <a:srgbClr val="17365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C8378C-0141-4286-A4C4-938758F6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>
            <a:defPPr algn="r">
              <a:def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rPr>
              <a:t>13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42A0D0-088D-417A-8BC4-A3D71DF7A3F7}"/>
              </a:ext>
            </a:extLst>
          </p:cNvPr>
          <p:cNvGraphicFramePr/>
          <p:nvPr/>
        </p:nvGraphicFramePr>
        <p:xfrm>
          <a:off xmlns:a="http://schemas.openxmlformats.org/drawingml/2006/main" x="552450" y="1143000"/>
          <a:ext xmlns:a="http://schemas.openxmlformats.org/drawingml/2006/main" cx="11087100" cy="4857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229600"/>
              </a:tblGrid>
              <a:tr h="539750">
                <a:tc>
                  <a:txBody>
                    <a:bodyPr/>
                    <a:lstStyle/>
                    <a:p>
                      <a:r>
                        <a:t>Challenge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T w="9525">
                      <a:solidFill>
                        <a:srgbClr val="D8DEE6"/>
                      </a:solidFill>
                      <a:prstDash val="solid"/>
                    </a:lnT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Implemented response or remaining limitation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T w="9525">
                      <a:solidFill>
                        <a:srgbClr val="D8DEE6"/>
                      </a:solidFill>
                      <a:prstDash val="solid"/>
                    </a:lnT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t>Uneven reporting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Define horizon as next reported observation; never fill missing dates as prices.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t>Restricted acquisition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Train and run offline from traceable local CEDA checkpoints.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t>Limited geography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State four-district Maharashtra scope; avoid national performance claims.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t>Temporal leakage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Group by market, shift every rolling feature and split on global target dates.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t>Overfitting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Use constrained trees, a common cohort and validation-only selection.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t>Historical staleness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Display the last observation and 2025-10-30 data cutoff.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t>No exogenous variables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Keep the first model price-only; arrivals units remain uncertain.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t>Model drawback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DEE6"/>
                      </a:solidFill>
                      <a:prstDash val="solid"/>
                    </a:lnL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Persistence cannot anticipate shocks or turning points, despite winning validation MAE.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DEE6"/>
                      </a:solidFill>
                      <a:prstDash val="solid"/>
                    </a:lnR>
                    <a:lnB w="9525">
                      <a:solidFill>
                        <a:srgbClr val="D8DEE6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918317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28B89A-A6F6-49F4-BF9E-2DC9C083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190"/>
          </a:bodyPr>
          <a:lstStyle xmlns:a="http://schemas.openxmlformats.org/drawingml/2006/main">
            <a:defPPr algn="l">
              <a:defRPr sz="315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Conclusion and Future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F7E34C-4189-4B8F-89EF-FF1F68F0B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1101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solidFill>
              <a:srgbClr val="17365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3490E0-5B2D-4889-8EAC-AD6A164A4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>
            <a:defPPr algn="r">
              <a:def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824F9D-54B6-49EA-92A1-483C70C1D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>
            <a:defPPr algn="l">
              <a:defRPr sz="210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What the project achieved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68EB70-A0DA-4B44-8214-8AA1CAA6A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51435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72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marL="254000" indent="-127000">
              <a:spcAft>
                <a:spcPts val="800"/>
              </a:spcAft>
              <a:buChar char="•"/>
              <a:defRPr sz="172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Preserved the existing market-analysis dashboard.</a:t>
            </a:r>
          </a:p>
          <a:p xmlns:a="http://schemas.openxmlformats.org/drawingml/2006/main">
            <a:pPr marL="254000" indent="-127000">
              <a:spcAft>
                <a:spcPts val="800"/>
              </a:spcAft>
              <a:buChar char="•"/>
              <a:defRPr sz="172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Evaluated six forecasting approaches with ten metrics.</a:t>
            </a:r>
          </a:p>
          <a:p xmlns:a="http://schemas.openxmlformats.org/drawingml/2006/main">
            <a:pPr marL="254000" indent="-127000">
              <a:spcAft>
                <a:spcPts val="800"/>
              </a:spcAft>
              <a:buChar char="•"/>
              <a:defRPr sz="172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Selected M0 Persistence using validation MAE of 128.2 INR/q.</a:t>
            </a:r>
          </a:p>
          <a:p xmlns:a="http://schemas.openxmlformats.org/drawingml/2006/main">
            <a:pPr marL="254000" indent="-127000">
              <a:spcAft>
                <a:spcPts val="800"/>
              </a:spcAft>
              <a:buChar char="•"/>
              <a:defRPr sz="172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Measured held-out MAE of 101.4 INR/q and RMSE of 181.0 INR/q.</a:t>
            </a:r>
          </a:p>
          <a:p xmlns:a="http://schemas.openxmlformats.org/drawingml/2006/main">
            <a:pPr marL="254000" indent="-127000">
              <a:spcAft>
                <a:spcPts val="800"/>
              </a:spcAft>
              <a:buChar char="•"/>
              <a:defRPr sz="172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Delivered saved next-report forecasts and reproducible evidence.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9CFA8C-4DCB-4A67-AB78-D3B7F9190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2001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>
            <a:defPPr algn="l">
              <a:defRPr sz="210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Future scope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81268C-B0DE-43E8-BFA2-56EB1048D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14500"/>
            <a:ext cx="44767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72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marL="254000" indent="-127000">
              <a:spcAft>
                <a:spcPts val="800"/>
              </a:spcAft>
              <a:buChar char="•"/>
              <a:defRPr sz="172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Broaden market and commodity coverage.</a:t>
            </a:r>
          </a:p>
          <a:p xmlns:a="http://schemas.openxmlformats.org/drawingml/2006/main">
            <a:pPr marL="254000" indent="-127000">
              <a:spcAft>
                <a:spcPts val="800"/>
              </a:spcAft>
              <a:buChar char="•"/>
              <a:defRPr sz="172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Add verified weather and consistently measured arrivals.</a:t>
            </a:r>
          </a:p>
          <a:p xmlns:a="http://schemas.openxmlformats.org/drawingml/2006/main">
            <a:pPr marL="254000" indent="-127000">
              <a:spcAft>
                <a:spcPts val="800"/>
              </a:spcAft>
              <a:buChar char="•"/>
              <a:defRPr sz="172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Collect a longer historical series and refresh the data.</a:t>
            </a:r>
          </a:p>
          <a:p xmlns:a="http://schemas.openxmlformats.org/drawingml/2006/main">
            <a:pPr marL="254000" indent="-127000">
              <a:spcAft>
                <a:spcPts val="800"/>
              </a:spcAft>
              <a:buChar char="•"/>
              <a:defRPr sz="172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Evaluate fixed calendar horizons separately.</a:t>
            </a:r>
          </a:p>
          <a:p xmlns:a="http://schemas.openxmlformats.org/drawingml/2006/main">
            <a:pPr marL="254000" indent="-127000">
              <a:spcAft>
                <a:spcPts val="800"/>
              </a:spcAft>
              <a:buChar char="•"/>
              <a:defRPr sz="172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Revisit tuning only after stronger coverage becomes available.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477C32-378D-472B-895E-414A66DBF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34000"/>
            <a:ext cx="7048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0"/>
          </a:solidFill>
          <a:ln xmlns:a="http://schemas.openxmlformats.org/drawingml/2006/main" w="9525">
            <a:solidFill>
              <a:srgbClr val="2F6B4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Measured improvement versus persistence: 0.0%</a:t>
            </a:r>
          </a:p>
          <a:p xmlns:a="http://schemas.openxmlformats.org/drawingml/2006/main">
            <a:pPr algn="ctr">
              <a:defRPr sz="1650" b="1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The baseline won, so no unsupported ML advantage is claimed.</a:t>
            </a:r>
          </a:p>
        </p:txBody>
      </p:sp>
    </p:spTree>
    <p:extLst>
      <p:ext uri="{BB962C8B-B14F-4D97-AF65-F5344CB8AC3E}">
        <p14:creationId xmlns:p14="http://schemas.microsoft.com/office/powerpoint/2010/main" val="155801862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B70CE5-1799-45EC-A1DE-CC3DB778A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190"/>
          </a:bodyPr>
          <a:lstStyle xmlns:a="http://schemas.openxmlformats.org/drawingml/2006/main">
            <a:defPPr algn="l">
              <a:defRPr sz="315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References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A8BDA5-5D35-4E41-A20D-065A4E6FE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1101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solidFill>
              <a:srgbClr val="17365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AD0ED5-A75C-4F1A-97FB-0D104D888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>
            <a:defPPr algn="r">
              <a:def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E378EB-4DD6-48A4-BBA2-63B1FD1EE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1057275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57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7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CEDA Agri Market Data documentation: https://api.ceda.ashoka.edu.in/documentation/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7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Government of India AGMARKNET / OGD resource: https://data.gov.in/resource/current-daily-price-various-commodities-various-markets-mandi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7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AgriFlow repository documentation: README.md; docs/04_DATA_SPECIFICATION.md; docs/05_ANALYTICS_SPECIFICATION.md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7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scikit-learn documentation: https://scikit-learn.org/stable/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7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pandas documentation: https://pandas.pydata.org/docs/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7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NumPy documentation: https://numpy.org/doc/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7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Dash documentation: https://dash.plotly.com/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7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Plotly Python documentation: https://plotly.com/python/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7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>
                <a:solidFill>
                  <a:srgbClr val="20252B"/>
                </a:solidFill>
                <a:latin typeface="Times New Roman"/>
                <a:ea typeface="Times New Roman"/>
                <a:cs typeface="Times New Roman"/>
              </a:rPr>
              <a:t>Hyndman and Athanasopoulos, Forecasting: Principles and Practice, https://otexts.com/fpp3/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E69D7B-D971-4F98-9BC6-AD1527F52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E6875"/>
                </a:solidFill>
                <a:latin typeface="Times New Roman"/>
                <a:ea typeface="Times New Roman"/>
                <a:cs typeface="Times New Roman"/>
              </a:rPr>
              <a:t>All experimental values in this deck originate from the saved local dataset and generated forecasting artifacts.</a:t>
            </a:r>
          </a:p>
        </p:txBody>
      </p:sp>
    </p:spTree>
    <p:extLst>
      <p:ext uri="{BB962C8B-B14F-4D97-AF65-F5344CB8AC3E}">
        <p14:creationId xmlns:p14="http://schemas.microsoft.com/office/powerpoint/2010/main" val="14577119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2026-10-13T12:57:16.7490000Z</dcterms:created>
  <dcterms:modified xsi:type="dcterms:W3CDTF">2026-10-13T12:57:16.7490000Z</dcterms:modified>
</coreProperties>
</file>